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12192000"/>
  <p:notesSz cx="6858000" cy="9144000"/>
  <p:embeddedFontLst>
    <p:embeddedFont>
      <p:font typeface="Inter SemiBold"/>
      <p:regular r:id="rId38"/>
      <p:bold r:id="rId39"/>
      <p:italic r:id="rId40"/>
      <p:boldItalic r:id="rId41"/>
    </p:embeddedFont>
    <p:embeddedFont>
      <p:font typeface="Inter"/>
      <p:bold r:id="rId42"/>
      <p:boldItalic r:id="rId43"/>
    </p:embeddedFont>
    <p:embeddedFont>
      <p:font typeface="Inter ExtraBold"/>
      <p:bold r:id="rId44"/>
      <p:boldItalic r:id="rId45"/>
    </p:embeddedFont>
    <p:embeddedFont>
      <p:font typeface="Inter Medium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7D7802-0E29-4FCF-93C8-69D14B03BA88}">
  <a:tblStyle styleId="{9F7D7802-0E29-4FCF-93C8-69D14B03BA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italic.fntdata"/><Relationship Id="rId42" Type="http://schemas.openxmlformats.org/officeDocument/2006/relationships/font" Target="fonts/Inter-bold.fntdata"/><Relationship Id="rId41" Type="http://schemas.openxmlformats.org/officeDocument/2006/relationships/font" Target="fonts/InterSemiBold-boldItalic.fntdata"/><Relationship Id="rId44" Type="http://schemas.openxmlformats.org/officeDocument/2006/relationships/font" Target="fonts/InterExtraBold-bold.fntdata"/><Relationship Id="rId43" Type="http://schemas.openxmlformats.org/officeDocument/2006/relationships/font" Target="fonts/Inter-boldItalic.fntdata"/><Relationship Id="rId46" Type="http://schemas.openxmlformats.org/officeDocument/2006/relationships/font" Target="fonts/InterMedium-regular.fntdata"/><Relationship Id="rId45" Type="http://schemas.openxmlformats.org/officeDocument/2006/relationships/font" Target="fonts/Inter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italic.fntdata"/><Relationship Id="rId47" Type="http://schemas.openxmlformats.org/officeDocument/2006/relationships/font" Target="fonts/InterMedium-bold.fntdata"/><Relationship Id="rId49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InterSemiBold-bold.fntdata"/><Relationship Id="rId38" Type="http://schemas.openxmlformats.org/officeDocument/2006/relationships/font" Target="fonts/InterSemiBol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83a75151_0_1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83a75151_0_3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c83a75151_0_5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83a75151_0_7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83a75151_0_9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c83a75151_0_13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c83a75151_0_15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c83a75151_0_1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c83a75151_0_20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c83a75151_0_24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c83a75151_0_26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c844799da_61_1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dc83a75151_0_30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dc83a75151_0_18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40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6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9" Type="http://schemas.openxmlformats.org/officeDocument/2006/relationships/image" Target="../media/image47.png"/><Relationship Id="rId5" Type="http://schemas.openxmlformats.org/officeDocument/2006/relationships/image" Target="../media/image42.png"/><Relationship Id="rId6" Type="http://schemas.openxmlformats.org/officeDocument/2006/relationships/image" Target="../media/image38.png"/><Relationship Id="rId7" Type="http://schemas.openxmlformats.org/officeDocument/2006/relationships/image" Target="../media/image24.png"/><Relationship Id="rId8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63.png"/><Relationship Id="rId6" Type="http://schemas.openxmlformats.org/officeDocument/2006/relationships/image" Target="../media/image67.png"/><Relationship Id="rId7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Relationship Id="rId6" Type="http://schemas.openxmlformats.org/officeDocument/2006/relationships/image" Target="../media/image55.png"/><Relationship Id="rId7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9" Type="http://schemas.openxmlformats.org/officeDocument/2006/relationships/image" Target="../media/image64.png"/><Relationship Id="rId5" Type="http://schemas.openxmlformats.org/officeDocument/2006/relationships/image" Target="../media/image52.png"/><Relationship Id="rId6" Type="http://schemas.openxmlformats.org/officeDocument/2006/relationships/image" Target="../media/image45.png"/><Relationship Id="rId7" Type="http://schemas.openxmlformats.org/officeDocument/2006/relationships/image" Target="../media/image62.png"/><Relationship Id="rId8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87.jpg"/><Relationship Id="rId5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jpg"/><Relationship Id="rId4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6.jpg"/><Relationship Id="rId4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78.png"/><Relationship Id="rId9" Type="http://schemas.openxmlformats.org/officeDocument/2006/relationships/image" Target="../media/image80.png"/><Relationship Id="rId5" Type="http://schemas.openxmlformats.org/officeDocument/2006/relationships/image" Target="../media/image76.png"/><Relationship Id="rId6" Type="http://schemas.openxmlformats.org/officeDocument/2006/relationships/image" Target="../media/image70.png"/><Relationship Id="rId7" Type="http://schemas.openxmlformats.org/officeDocument/2006/relationships/image" Target="../media/image81.png"/><Relationship Id="rId8" Type="http://schemas.openxmlformats.org/officeDocument/2006/relationships/image" Target="../media/image7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4.png"/><Relationship Id="rId4" Type="http://schemas.openxmlformats.org/officeDocument/2006/relationships/image" Target="../media/image27.png"/><Relationship Id="rId5" Type="http://schemas.openxmlformats.org/officeDocument/2006/relationships/image" Target="../media/image84.jpg"/><Relationship Id="rId6" Type="http://schemas.openxmlformats.org/officeDocument/2006/relationships/image" Target="../media/image83.jpg"/><Relationship Id="rId7" Type="http://schemas.openxmlformats.org/officeDocument/2006/relationships/image" Target="../media/image8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24" y="0"/>
            <a:ext cx="12108000" cy="6810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85" name="Google Shape;8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4492" y="4792715"/>
            <a:ext cx="3027000" cy="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1345265" y="1765737"/>
            <a:ext cx="9585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DocuMind AI</a:t>
            </a:r>
            <a:endParaRPr b="1" sz="6356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345265" y="2774730"/>
            <a:ext cx="9585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83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Hybrid RAG-Based Knowledge Assistant</a:t>
            </a:r>
            <a:endParaRPr b="0" sz="2383">
              <a:solidFill>
                <a:srgbClr val="3B82F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88" name="Google Shape;88;p14"/>
          <p:cNvGrpSpPr/>
          <p:nvPr/>
        </p:nvGrpSpPr>
        <p:grpSpPr>
          <a:xfrm>
            <a:off x="1303417" y="5108532"/>
            <a:ext cx="9585160" cy="693862"/>
            <a:chOff x="952500" y="3048000"/>
            <a:chExt cx="7239000" cy="524025"/>
          </a:xfrm>
        </p:grpSpPr>
        <p:sp>
          <p:nvSpPr>
            <p:cNvPr id="89" name="Google Shape;89;p14"/>
            <p:cNvSpPr txBox="1"/>
            <p:nvPr/>
          </p:nvSpPr>
          <p:spPr>
            <a:xfrm>
              <a:off x="952500" y="3048000"/>
              <a:ext cx="7239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1" sz="14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952500" y="3286125"/>
              <a:ext cx="723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21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Abhay Maurya • Amit Yadav • Varun Rana • Shanu Ahmed • Samir Ahmad</a:t>
              </a:r>
              <a:endParaRPr b="0" sz="1721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1218830" y="3637867"/>
            <a:ext cx="9754347" cy="796312"/>
            <a:chOff x="1085307" y="2589677"/>
            <a:chExt cx="7366775" cy="601398"/>
          </a:xfrm>
        </p:grpSpPr>
        <p:sp>
          <p:nvSpPr>
            <p:cNvPr id="92" name="Google Shape;92;p14"/>
            <p:cNvSpPr txBox="1"/>
            <p:nvPr/>
          </p:nvSpPr>
          <p:spPr>
            <a:xfrm>
              <a:off x="1085307" y="2589677"/>
              <a:ext cx="7239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Guided by</a:t>
              </a:r>
              <a:endParaRPr b="1" sz="14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1213083" y="2905175"/>
              <a:ext cx="723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54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Sneh Lata Singh</a:t>
              </a:r>
              <a:endParaRPr b="0" sz="1854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9608" y="630620"/>
            <a:ext cx="756600" cy="6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0756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40756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498056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AI Transformation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4060031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Large Language Models (LLMs) have revolutionized how we interact with unstructured data, turning static documents into interactive knowledge bases.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3498056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Cognitive Assistance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4060031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DocuMind AI bridges the gap between massive document repositories and instant, contextual insights using advanced Retrieval-Augmented Generation.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7890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6789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Era of Document Intelligence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571500" y="914400"/>
            <a:ext cx="573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62000" y="914400"/>
            <a:ext cx="10668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7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Privacy &amp; Context Gap</a:t>
            </a:r>
            <a:endParaRPr b="1" sz="407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761981" y="2285943"/>
            <a:ext cx="3301917" cy="3555911"/>
            <a:chOff x="571500" y="1714500"/>
            <a:chExt cx="2476500" cy="2667000"/>
          </a:xfrm>
        </p:grpSpPr>
        <p:sp>
          <p:nvSpPr>
            <p:cNvPr id="117" name="Google Shape;117;p16"/>
            <p:cNvSpPr/>
            <p:nvPr/>
          </p:nvSpPr>
          <p:spPr>
            <a:xfrm>
              <a:off x="5715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809625" y="1993519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809625" y="2524125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Cloud Privacy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809625" y="3000375"/>
              <a:ext cx="2000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Uploading sensitive corporate or personal data to public cloud AI models poses significant security risks and compliance issues.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4444889" y="2285943"/>
            <a:ext cx="3301917" cy="3555911"/>
            <a:chOff x="3333750" y="1714500"/>
            <a:chExt cx="2476500" cy="2667000"/>
          </a:xfrm>
        </p:grpSpPr>
        <p:sp>
          <p:nvSpPr>
            <p:cNvPr id="122" name="Google Shape;122;p16"/>
            <p:cNvSpPr/>
            <p:nvPr/>
          </p:nvSpPr>
          <p:spPr>
            <a:xfrm>
              <a:off x="333375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3571875" y="1993519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signal_wifi_off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3571875" y="2524125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Connectivity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3571875" y="3000375"/>
              <a:ext cx="2000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Most AI assistants fail without high-speed internet, making them unusable in air-gapped or low-connectivity environments.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8127797" y="2285943"/>
            <a:ext cx="3301917" cy="3555911"/>
            <a:chOff x="6096000" y="1714500"/>
            <a:chExt cx="2476500" cy="2667000"/>
          </a:xfrm>
        </p:grpSpPr>
        <p:sp>
          <p:nvSpPr>
            <p:cNvPr id="127" name="Google Shape;127;p16"/>
            <p:cNvSpPr/>
            <p:nvPr/>
          </p:nvSpPr>
          <p:spPr>
            <a:xfrm>
              <a:off x="60960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6334125" y="1993519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psychology_alt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6334125" y="2524125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Hallucination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6334125" y="3000375"/>
              <a:ext cx="2000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LLMs without RAG often hallucinate facts when asked specific questions about niche or private documents not in their training data.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14661"/>
            <a:ext cx="523875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24176"/>
            <a:ext cx="5219699" cy="47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143750" y="292908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Sovereignty: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Demand for data sovereignty in legal and medical sectors.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143750" y="372918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Reducing "search time" by 70% in large document audits.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143750" y="452928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Hybrid Need: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Bridging the gap between Local LLM privacy and Cloud LLM power.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143750" y="532938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Academic Value: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Creating a standardized framework for offline-first RAG.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29671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376728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456738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5367486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Motivation Behind DocuMind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62000" y="919311"/>
            <a:ext cx="50006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Hybrid RAG Architecture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919311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2633811"/>
            <a:ext cx="52006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Secure, Intelligent, Offline-Ready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195786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DocuMind AI is a dual-engine RAG assistant. It routes queries based on user preference and data sensitivity.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4300686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leveraging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FAISS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local vector storage and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Smart Router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it offers the best of both worlds: extreme privacy when offline and superior intelligence when online.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82130"/>
            <a:ext cx="5238750" cy="353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91655"/>
            <a:ext cx="5219700" cy="351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1333500" y="267890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Finding the needle in the haystack (relevant document chunks).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333500" y="347900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Augmentation: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Providing retrieved context as a prompt prefix.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333500" y="4279106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LLM produces an answer grounded in the actual facts.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333500" y="5079206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Dramatically reduces hallucinations.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170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51710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3172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117306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Retrieval Augmented Generation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3323778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CA3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Offline Mode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88575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Ollama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Llama.cpp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run models like Mistral or Llama3 locally. Zero bytes leave your machine.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685853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Best for: Confidential legal docs, medical records.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381750" y="3323778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Online Mode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388575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Connects to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OpenAI GPT-4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Google Gemini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via API for complex reasoning and deep summaries.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81750" y="4685853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Best for: General knowledge synthesis, complex code analysis.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235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5235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Hybrid Advantage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0" y="0"/>
            <a:ext cx="12438000" cy="69963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438000" cy="69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777370" y="777369"/>
            <a:ext cx="78000" cy="64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036494" y="777369"/>
            <a:ext cx="1036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End-to-End System Journey</a:t>
            </a:r>
            <a:endParaRPr b="1" sz="4353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741" y="3873891"/>
            <a:ext cx="9224700" cy="2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1"/>
          <p:cNvGrpSpPr/>
          <p:nvPr/>
        </p:nvGrpSpPr>
        <p:grpSpPr>
          <a:xfrm>
            <a:off x="777354" y="2332063"/>
            <a:ext cx="2332063" cy="3109417"/>
            <a:chOff x="571500" y="1714500"/>
            <a:chExt cx="1714500" cy="2286000"/>
          </a:xfrm>
        </p:grpSpPr>
        <p:sp>
          <p:nvSpPr>
            <p:cNvPr id="200" name="Google Shape;200;p21"/>
            <p:cNvSpPr/>
            <p:nvPr/>
          </p:nvSpPr>
          <p:spPr>
            <a:xfrm>
              <a:off x="571500" y="1714500"/>
              <a:ext cx="1714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 cap="flat" cmpd="sng" w="129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714375" y="1905000"/>
              <a:ext cx="1428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9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cloud_upload</a:t>
              </a:r>
              <a:endParaRPr sz="3809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224"/>
                </a:spcBef>
                <a:spcAft>
                  <a:spcPts val="0"/>
                </a:spcAft>
                <a:buNone/>
              </a:pPr>
              <a:r>
                <a:rPr b="0" lang="en-US" sz="2176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Upload</a:t>
              </a:r>
              <a:endParaRPr b="0" sz="2176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816"/>
                </a:spcBef>
                <a:spcAft>
                  <a:spcPts val="0"/>
                </a:spcAft>
                <a:buNone/>
              </a:pPr>
              <a:r>
                <a:rPr b="0" lang="en-US" sz="149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Multi-format ingestion (PDF, DOCX)</a:t>
              </a:r>
              <a:endParaRPr b="0" sz="149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21"/>
          <p:cNvGrpSpPr/>
          <p:nvPr/>
        </p:nvGrpSpPr>
        <p:grpSpPr>
          <a:xfrm>
            <a:off x="3627653" y="2332063"/>
            <a:ext cx="2332063" cy="3109417"/>
            <a:chOff x="2667000" y="1714500"/>
            <a:chExt cx="1714500" cy="2286000"/>
          </a:xfrm>
        </p:grpSpPr>
        <p:sp>
          <p:nvSpPr>
            <p:cNvPr id="203" name="Google Shape;203;p21"/>
            <p:cNvSpPr/>
            <p:nvPr/>
          </p:nvSpPr>
          <p:spPr>
            <a:xfrm>
              <a:off x="2667000" y="1714500"/>
              <a:ext cx="1714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 cap="flat" cmpd="sng" w="129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2809875" y="1905000"/>
              <a:ext cx="1428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9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809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224"/>
                </a:spcBef>
                <a:spcAft>
                  <a:spcPts val="0"/>
                </a:spcAft>
                <a:buNone/>
              </a:pPr>
              <a:r>
                <a:rPr b="0" lang="en-US" sz="2176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Vectorize</a:t>
              </a:r>
              <a:endParaRPr b="0" sz="2176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816"/>
                </a:spcBef>
                <a:spcAft>
                  <a:spcPts val="0"/>
                </a:spcAft>
                <a:buNone/>
              </a:pPr>
              <a:r>
                <a:rPr b="0" lang="en-US" sz="149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Semantic Embedding Generation</a:t>
              </a:r>
              <a:endParaRPr b="0" sz="149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6477952" y="2332063"/>
            <a:ext cx="2332063" cy="3109417"/>
            <a:chOff x="4762500" y="1714500"/>
            <a:chExt cx="1714500" cy="2286000"/>
          </a:xfrm>
        </p:grpSpPr>
        <p:sp>
          <p:nvSpPr>
            <p:cNvPr id="206" name="Google Shape;206;p21"/>
            <p:cNvSpPr/>
            <p:nvPr/>
          </p:nvSpPr>
          <p:spPr>
            <a:xfrm>
              <a:off x="4762500" y="1714500"/>
              <a:ext cx="1714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 cap="flat" cmpd="sng" w="129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4905375" y="1905000"/>
              <a:ext cx="1428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9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manage_search</a:t>
              </a:r>
              <a:endParaRPr sz="3809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224"/>
                </a:spcBef>
                <a:spcAft>
                  <a:spcPts val="0"/>
                </a:spcAft>
                <a:buNone/>
              </a:pPr>
              <a:r>
                <a:rPr b="0" lang="en-US" sz="2176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Retrieve</a:t>
              </a:r>
              <a:endParaRPr b="0" sz="2176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816"/>
                </a:spcBef>
                <a:spcAft>
                  <a:spcPts val="0"/>
                </a:spcAft>
                <a:buNone/>
              </a:pPr>
              <a:r>
                <a:rPr b="0" lang="en-US" sz="149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FAISS Similarity Search</a:t>
              </a:r>
              <a:endParaRPr b="0" sz="149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9328252" y="2332063"/>
            <a:ext cx="2332063" cy="3109417"/>
            <a:chOff x="6858000" y="1714500"/>
            <a:chExt cx="1714500" cy="2286000"/>
          </a:xfrm>
        </p:grpSpPr>
        <p:sp>
          <p:nvSpPr>
            <p:cNvPr id="209" name="Google Shape;209;p21"/>
            <p:cNvSpPr/>
            <p:nvPr/>
          </p:nvSpPr>
          <p:spPr>
            <a:xfrm>
              <a:off x="6858000" y="1714500"/>
              <a:ext cx="1714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 cap="flat" cmpd="sng" w="129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7000875" y="1905000"/>
              <a:ext cx="1428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9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3809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224"/>
                </a:spcBef>
                <a:spcAft>
                  <a:spcPts val="0"/>
                </a:spcAft>
                <a:buNone/>
              </a:pPr>
              <a:r>
                <a:rPr b="0" lang="en-US" sz="2176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Respond</a:t>
              </a:r>
              <a:endParaRPr b="0" sz="2176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816"/>
                </a:spcBef>
                <a:spcAft>
                  <a:spcPts val="0"/>
                </a:spcAft>
                <a:buNone/>
              </a:pPr>
              <a:r>
                <a:rPr b="0" lang="en-US" sz="149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Grounded LLM Generation</a:t>
              </a:r>
              <a:endParaRPr b="0" sz="149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571500" y="762000"/>
            <a:ext cx="573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825500" y="7620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3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Technical Architecture Overview</a:t>
            </a:r>
            <a:endParaRPr b="1" sz="3733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223000" y="1778000"/>
            <a:ext cx="5461200" cy="4064100"/>
          </a:xfrm>
          <a:prstGeom prst="roundRect">
            <a:avLst>
              <a:gd fmla="val 3750" name="adj"/>
            </a:avLst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223000" y="1778000"/>
            <a:ext cx="5461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Modular Component Stack</a:t>
            </a:r>
            <a:endParaRPr b="0" sz="2133">
              <a:solidFill>
                <a:srgbClr val="3B82F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6222844" y="2285943"/>
            <a:ext cx="5461063" cy="761981"/>
            <a:chOff x="4667250" y="1714500"/>
            <a:chExt cx="4095900" cy="571500"/>
          </a:xfrm>
        </p:grpSpPr>
        <p:sp>
          <p:nvSpPr>
            <p:cNvPr id="220" name="Google Shape;220;p22"/>
            <p:cNvSpPr/>
            <p:nvPr/>
          </p:nvSpPr>
          <p:spPr>
            <a:xfrm>
              <a:off x="4667250" y="171450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4810125" y="18638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5286375" y="180975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67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Spring Boot:</a:t>
              </a: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Orchestration, Auth, File Management.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22"/>
          <p:cNvGrpSpPr/>
          <p:nvPr/>
        </p:nvGrpSpPr>
        <p:grpSpPr>
          <a:xfrm>
            <a:off x="6222844" y="3174921"/>
            <a:ext cx="5461063" cy="761981"/>
            <a:chOff x="4667250" y="2381250"/>
            <a:chExt cx="4095900" cy="571500"/>
          </a:xfrm>
        </p:grpSpPr>
        <p:sp>
          <p:nvSpPr>
            <p:cNvPr id="224" name="Google Shape;224;p22"/>
            <p:cNvSpPr/>
            <p:nvPr/>
          </p:nvSpPr>
          <p:spPr>
            <a:xfrm>
              <a:off x="4667250" y="238125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4810125" y="25306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5286375" y="247650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67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FastAPI:</a:t>
              </a: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AI Inference and Embedding Service.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p22"/>
          <p:cNvGrpSpPr/>
          <p:nvPr/>
        </p:nvGrpSpPr>
        <p:grpSpPr>
          <a:xfrm>
            <a:off x="6222844" y="4063898"/>
            <a:ext cx="5461063" cy="761981"/>
            <a:chOff x="4667250" y="3048000"/>
            <a:chExt cx="4095900" cy="571500"/>
          </a:xfrm>
        </p:grpSpPr>
        <p:sp>
          <p:nvSpPr>
            <p:cNvPr id="228" name="Google Shape;228;p22"/>
            <p:cNvSpPr/>
            <p:nvPr/>
          </p:nvSpPr>
          <p:spPr>
            <a:xfrm>
              <a:off x="4667250" y="304800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4810125" y="31973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5286375" y="314325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67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Vector DB:</a:t>
              </a: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FAISS for high-speed indexing.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1" name="Google Shape;231;p22"/>
          <p:cNvGrpSpPr/>
          <p:nvPr/>
        </p:nvGrpSpPr>
        <p:grpSpPr>
          <a:xfrm>
            <a:off x="6222844" y="4952876"/>
            <a:ext cx="5461063" cy="761981"/>
            <a:chOff x="4667250" y="3714750"/>
            <a:chExt cx="4095900" cy="571500"/>
          </a:xfrm>
        </p:grpSpPr>
        <p:sp>
          <p:nvSpPr>
            <p:cNvPr id="232" name="Google Shape;232;p22"/>
            <p:cNvSpPr/>
            <p:nvPr/>
          </p:nvSpPr>
          <p:spPr>
            <a:xfrm>
              <a:off x="4667250" y="371475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4810125" y="38641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5286375" y="381000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67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LLM Router:</a:t>
              </a: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Logic to switch between Local &amp; Cloud.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-2176"/>
          <a:stretch/>
        </p:blipFill>
        <p:spPr>
          <a:xfrm>
            <a:off x="1293375" y="1777800"/>
            <a:ext cx="4381500" cy="4476900"/>
          </a:xfrm>
          <a:prstGeom prst="roundRect">
            <a:avLst>
              <a:gd fmla="val 428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41" name="Google Shape;241;p23"/>
          <p:cNvSpPr/>
          <p:nvPr/>
        </p:nvSpPr>
        <p:spPr>
          <a:xfrm>
            <a:off x="571500" y="571500"/>
            <a:ext cx="573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762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4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Ingestion Flow</a:t>
            </a:r>
            <a:endParaRPr b="1" sz="3947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0000" y="3797300"/>
            <a:ext cx="9651900" cy="2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23"/>
          <p:cNvGrpSpPr/>
          <p:nvPr/>
        </p:nvGrpSpPr>
        <p:grpSpPr>
          <a:xfrm>
            <a:off x="571486" y="2285943"/>
            <a:ext cx="2539937" cy="3047924"/>
            <a:chOff x="428625" y="1714500"/>
            <a:chExt cx="1905000" cy="2286000"/>
          </a:xfrm>
        </p:grpSpPr>
        <p:sp>
          <p:nvSpPr>
            <p:cNvPr id="245" name="Google Shape;245;p23"/>
            <p:cNvSpPr/>
            <p:nvPr/>
          </p:nvSpPr>
          <p:spPr>
            <a:xfrm>
              <a:off x="428625" y="17145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3"/>
            <p:cNvSpPr txBox="1"/>
            <p:nvPr/>
          </p:nvSpPr>
          <p:spPr>
            <a:xfrm>
              <a:off x="428625" y="1945894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cloud_upload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523875" y="2428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Ingest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523875" y="3095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Multipart File Upload for high-volume data handling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23"/>
          <p:cNvGrpSpPr/>
          <p:nvPr/>
        </p:nvGrpSpPr>
        <p:grpSpPr>
          <a:xfrm>
            <a:off x="3365416" y="2285943"/>
            <a:ext cx="2539937" cy="3047924"/>
            <a:chOff x="2524125" y="1714500"/>
            <a:chExt cx="1905000" cy="2286000"/>
          </a:xfrm>
        </p:grpSpPr>
        <p:sp>
          <p:nvSpPr>
            <p:cNvPr id="250" name="Google Shape;250;p23"/>
            <p:cNvSpPr/>
            <p:nvPr/>
          </p:nvSpPr>
          <p:spPr>
            <a:xfrm>
              <a:off x="2524125" y="17145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524125" y="1945894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content_cut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619375" y="2428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Chunk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2619375" y="3095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Recursive Character Split to optimize context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4" name="Google Shape;254;p23"/>
          <p:cNvGrpSpPr/>
          <p:nvPr/>
        </p:nvGrpSpPr>
        <p:grpSpPr>
          <a:xfrm>
            <a:off x="6159346" y="2285943"/>
            <a:ext cx="2539936" cy="3047924"/>
            <a:chOff x="4619625" y="1714500"/>
            <a:chExt cx="1905000" cy="2286000"/>
          </a:xfrm>
        </p:grpSpPr>
        <p:sp>
          <p:nvSpPr>
            <p:cNvPr id="255" name="Google Shape;255;p23"/>
            <p:cNvSpPr/>
            <p:nvPr/>
          </p:nvSpPr>
          <p:spPr>
            <a:xfrm>
              <a:off x="4619625" y="17145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4619625" y="1945894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7" name="Google Shape;257;p23"/>
            <p:cNvSpPr txBox="1"/>
            <p:nvPr/>
          </p:nvSpPr>
          <p:spPr>
            <a:xfrm>
              <a:off x="4714875" y="2428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Embed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8" name="Google Shape;258;p23"/>
            <p:cNvSpPr txBox="1"/>
            <p:nvPr/>
          </p:nvSpPr>
          <p:spPr>
            <a:xfrm>
              <a:off x="4714875" y="3095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Sentence-Transformers (Local) for vectorizing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9" name="Google Shape;259;p23"/>
          <p:cNvGrpSpPr/>
          <p:nvPr/>
        </p:nvGrpSpPr>
        <p:grpSpPr>
          <a:xfrm>
            <a:off x="8953276" y="2285943"/>
            <a:ext cx="2539936" cy="3047924"/>
            <a:chOff x="6715125" y="1714500"/>
            <a:chExt cx="1905000" cy="2286000"/>
          </a:xfrm>
        </p:grpSpPr>
        <p:sp>
          <p:nvSpPr>
            <p:cNvPr id="260" name="Google Shape;260;p23"/>
            <p:cNvSpPr/>
            <p:nvPr/>
          </p:nvSpPr>
          <p:spPr>
            <a:xfrm>
              <a:off x="6715125" y="17145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3"/>
            <p:cNvSpPr txBox="1"/>
            <p:nvPr/>
          </p:nvSpPr>
          <p:spPr>
            <a:xfrm>
              <a:off x="6715125" y="1945894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3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733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6810375" y="2428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Index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6810375" y="3095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FAISS FlatL2/HNSW for efficient search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/>
          <p:nvPr/>
        </p:nvSpPr>
        <p:spPr>
          <a:xfrm>
            <a:off x="508000" y="508000"/>
            <a:ext cx="507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62000" y="406400"/>
            <a:ext cx="10922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6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Workflow: Document Ingestion</a:t>
            </a:r>
            <a:endParaRPr b="1" sz="4267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0" name="Google Shape;270;p24"/>
          <p:cNvGrpSpPr/>
          <p:nvPr/>
        </p:nvGrpSpPr>
        <p:grpSpPr>
          <a:xfrm>
            <a:off x="761981" y="2031949"/>
            <a:ext cx="9804155" cy="3047924"/>
            <a:chOff x="571500" y="1524000"/>
            <a:chExt cx="7353300" cy="2286000"/>
          </a:xfrm>
        </p:grpSpPr>
        <p:pic>
          <p:nvPicPr>
            <p:cNvPr id="271" name="Google Shape;271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2657475"/>
              <a:ext cx="67818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24"/>
            <p:cNvSpPr/>
            <p:nvPr/>
          </p:nvSpPr>
          <p:spPr>
            <a:xfrm>
              <a:off x="571500" y="15240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4"/>
            <p:cNvSpPr txBox="1"/>
            <p:nvPr/>
          </p:nvSpPr>
          <p:spPr>
            <a:xfrm>
              <a:off x="714375" y="166687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960">
                  <a:solidFill>
                    <a:srgbClr val="3B82F6">
                      <a:alpha val="20000"/>
                    </a:srgbClr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4960">
                <a:solidFill>
                  <a:srgbClr val="3B82F6">
                    <a:alpha val="20000"/>
                  </a:srgbClr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74" name="Google Shape;274;p24"/>
            <p:cNvSpPr txBox="1"/>
            <p:nvPr/>
          </p:nvSpPr>
          <p:spPr>
            <a:xfrm>
              <a:off x="714375" y="2571750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PDF Upload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5" name="Google Shape;275;p24"/>
            <p:cNvSpPr txBox="1"/>
            <p:nvPr/>
          </p:nvSpPr>
          <p:spPr>
            <a:xfrm>
              <a:off x="714375" y="290512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Spring Boot API handles binary data and secures file storage.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24"/>
          <p:cNvGrpSpPr/>
          <p:nvPr/>
        </p:nvGrpSpPr>
        <p:grpSpPr>
          <a:xfrm>
            <a:off x="3555911" y="2031949"/>
            <a:ext cx="2539937" cy="3047924"/>
            <a:chOff x="2667000" y="1524000"/>
            <a:chExt cx="1905000" cy="2286000"/>
          </a:xfrm>
        </p:grpSpPr>
        <p:sp>
          <p:nvSpPr>
            <p:cNvPr id="277" name="Google Shape;277;p24"/>
            <p:cNvSpPr/>
            <p:nvPr/>
          </p:nvSpPr>
          <p:spPr>
            <a:xfrm>
              <a:off x="2667000" y="15240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 txBox="1"/>
            <p:nvPr/>
          </p:nvSpPr>
          <p:spPr>
            <a:xfrm>
              <a:off x="2809875" y="166687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960">
                  <a:solidFill>
                    <a:srgbClr val="3B82F6">
                      <a:alpha val="20000"/>
                    </a:srgbClr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4960">
                <a:solidFill>
                  <a:srgbClr val="3B82F6">
                    <a:alpha val="20000"/>
                  </a:srgbClr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79" name="Google Shape;279;p24"/>
            <p:cNvSpPr txBox="1"/>
            <p:nvPr/>
          </p:nvSpPr>
          <p:spPr>
            <a:xfrm>
              <a:off x="2809875" y="2571750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Extraction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2809875" y="290512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FastAPI &amp; PyMuPDF perform high-fidelity text extraction.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1" name="Google Shape;281;p24"/>
          <p:cNvGrpSpPr/>
          <p:nvPr/>
        </p:nvGrpSpPr>
        <p:grpSpPr>
          <a:xfrm>
            <a:off x="6349841" y="2031949"/>
            <a:ext cx="2539937" cy="3047924"/>
            <a:chOff x="4762500" y="1524000"/>
            <a:chExt cx="1905000" cy="2286000"/>
          </a:xfrm>
        </p:grpSpPr>
        <p:sp>
          <p:nvSpPr>
            <p:cNvPr id="282" name="Google Shape;282;p24"/>
            <p:cNvSpPr/>
            <p:nvPr/>
          </p:nvSpPr>
          <p:spPr>
            <a:xfrm>
              <a:off x="4762500" y="15240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4"/>
            <p:cNvSpPr txBox="1"/>
            <p:nvPr/>
          </p:nvSpPr>
          <p:spPr>
            <a:xfrm>
              <a:off x="4905375" y="166687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960">
                  <a:solidFill>
                    <a:srgbClr val="3B82F6">
                      <a:alpha val="20000"/>
                    </a:srgbClr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4960">
                <a:solidFill>
                  <a:srgbClr val="3B82F6">
                    <a:alpha val="20000"/>
                  </a:srgbClr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84" name="Google Shape;284;p24"/>
            <p:cNvSpPr txBox="1"/>
            <p:nvPr/>
          </p:nvSpPr>
          <p:spPr>
            <a:xfrm>
              <a:off x="4905375" y="2571750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Indexing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5" name="Google Shape;285;p24"/>
            <p:cNvSpPr txBox="1"/>
            <p:nvPr/>
          </p:nvSpPr>
          <p:spPr>
            <a:xfrm>
              <a:off x="4905375" y="290512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Vectors stored in FAISS binary files for efficient search.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p24"/>
          <p:cNvGrpSpPr/>
          <p:nvPr/>
        </p:nvGrpSpPr>
        <p:grpSpPr>
          <a:xfrm>
            <a:off x="9143771" y="2031949"/>
            <a:ext cx="2539937" cy="3047924"/>
            <a:chOff x="6858000" y="1524000"/>
            <a:chExt cx="1905000" cy="2286000"/>
          </a:xfrm>
        </p:grpSpPr>
        <p:sp>
          <p:nvSpPr>
            <p:cNvPr id="287" name="Google Shape;287;p24"/>
            <p:cNvSpPr/>
            <p:nvPr/>
          </p:nvSpPr>
          <p:spPr>
            <a:xfrm>
              <a:off x="6858000" y="152400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4"/>
            <p:cNvSpPr txBox="1"/>
            <p:nvPr/>
          </p:nvSpPr>
          <p:spPr>
            <a:xfrm>
              <a:off x="7000875" y="166687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960">
                  <a:solidFill>
                    <a:srgbClr val="3B82F6">
                      <a:alpha val="20000"/>
                    </a:srgbClr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4960">
                <a:solidFill>
                  <a:srgbClr val="3B82F6">
                    <a:alpha val="20000"/>
                  </a:srgbClr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89" name="Google Shape;289;p24"/>
            <p:cNvSpPr txBox="1"/>
            <p:nvPr/>
          </p:nvSpPr>
          <p:spPr>
            <a:xfrm>
              <a:off x="7000875" y="2571750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Metadata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0" name="Google Shape;290;p24"/>
            <p:cNvSpPr txBox="1"/>
            <p:nvPr/>
          </p:nvSpPr>
          <p:spPr>
            <a:xfrm>
              <a:off x="7000875" y="290512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MySQL manages relations between users and documents.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/>
          <p:nvPr/>
        </p:nvSpPr>
        <p:spPr>
          <a:xfrm>
            <a:off x="571500" y="508000"/>
            <a:ext cx="507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825500" y="5080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3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Workflow: User Querying</a:t>
            </a:r>
            <a:endParaRPr b="1" sz="3733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7" name="Google Shape;297;p25"/>
          <p:cNvGrpSpPr/>
          <p:nvPr/>
        </p:nvGrpSpPr>
        <p:grpSpPr>
          <a:xfrm>
            <a:off x="761981" y="2031949"/>
            <a:ext cx="2539937" cy="3555911"/>
            <a:chOff x="571500" y="1524000"/>
            <a:chExt cx="1905000" cy="2667000"/>
          </a:xfrm>
        </p:grpSpPr>
        <p:sp>
          <p:nvSpPr>
            <p:cNvPr id="298" name="Google Shape;298;p25"/>
            <p:cNvSpPr/>
            <p:nvPr/>
          </p:nvSpPr>
          <p:spPr>
            <a:xfrm>
              <a:off x="571500" y="1524000"/>
              <a:ext cx="1905000" cy="26670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 txBox="1"/>
            <p:nvPr/>
          </p:nvSpPr>
          <p:spPr>
            <a:xfrm>
              <a:off x="7620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0" name="Google Shape;300;p25"/>
            <p:cNvSpPr txBox="1"/>
            <p:nvPr/>
          </p:nvSpPr>
          <p:spPr>
            <a:xfrm>
              <a:off x="762000" y="219075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33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933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762000" y="26670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Prompt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2" name="Google Shape;302;p25"/>
            <p:cNvSpPr txBox="1"/>
            <p:nvPr/>
          </p:nvSpPr>
          <p:spPr>
            <a:xfrm>
              <a:off x="762000" y="3048000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User enters natural language question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03" name="Google Shape;3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2000" y="3797300"/>
            <a:ext cx="254100" cy="2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5"/>
          <p:cNvGrpSpPr/>
          <p:nvPr/>
        </p:nvGrpSpPr>
        <p:grpSpPr>
          <a:xfrm>
            <a:off x="3555911" y="2031949"/>
            <a:ext cx="2539937" cy="3555911"/>
            <a:chOff x="2667000" y="1524000"/>
            <a:chExt cx="1905000" cy="2667000"/>
          </a:xfrm>
        </p:grpSpPr>
        <p:sp>
          <p:nvSpPr>
            <p:cNvPr id="305" name="Google Shape;305;p25"/>
            <p:cNvSpPr/>
            <p:nvPr/>
          </p:nvSpPr>
          <p:spPr>
            <a:xfrm>
              <a:off x="2667000" y="1524000"/>
              <a:ext cx="1905000" cy="26670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5"/>
            <p:cNvSpPr txBox="1"/>
            <p:nvPr/>
          </p:nvSpPr>
          <p:spPr>
            <a:xfrm>
              <a:off x="28575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7" name="Google Shape;307;p25"/>
            <p:cNvSpPr txBox="1"/>
            <p:nvPr/>
          </p:nvSpPr>
          <p:spPr>
            <a:xfrm>
              <a:off x="2857500" y="219075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33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933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08" name="Google Shape;308;p25"/>
            <p:cNvSpPr txBox="1"/>
            <p:nvPr/>
          </p:nvSpPr>
          <p:spPr>
            <a:xfrm>
              <a:off x="2857500" y="26670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Search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9" name="Google Shape;309;p25"/>
            <p:cNvSpPr txBox="1"/>
            <p:nvPr/>
          </p:nvSpPr>
          <p:spPr>
            <a:xfrm>
              <a:off x="2857500" y="3048000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Retrieve context from FAISS vector storage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797300"/>
            <a:ext cx="254100" cy="2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5"/>
          <p:cNvGrpSpPr/>
          <p:nvPr/>
        </p:nvGrpSpPr>
        <p:grpSpPr>
          <a:xfrm>
            <a:off x="6349841" y="2031949"/>
            <a:ext cx="2539937" cy="3555911"/>
            <a:chOff x="4762500" y="1524000"/>
            <a:chExt cx="1905000" cy="2667000"/>
          </a:xfrm>
        </p:grpSpPr>
        <p:sp>
          <p:nvSpPr>
            <p:cNvPr id="312" name="Google Shape;312;p25"/>
            <p:cNvSpPr/>
            <p:nvPr/>
          </p:nvSpPr>
          <p:spPr>
            <a:xfrm>
              <a:off x="4762500" y="1524000"/>
              <a:ext cx="1905000" cy="26670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5"/>
            <p:cNvSpPr txBox="1"/>
            <p:nvPr/>
          </p:nvSpPr>
          <p:spPr>
            <a:xfrm>
              <a:off x="49530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4" name="Google Shape;314;p25"/>
            <p:cNvSpPr txBox="1"/>
            <p:nvPr/>
          </p:nvSpPr>
          <p:spPr>
            <a:xfrm>
              <a:off x="4953000" y="219075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33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933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15" name="Google Shape;315;p25"/>
            <p:cNvSpPr txBox="1"/>
            <p:nvPr/>
          </p:nvSpPr>
          <p:spPr>
            <a:xfrm>
              <a:off x="4953000" y="26670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Routing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6" name="Google Shape;316;p25"/>
            <p:cNvSpPr txBox="1"/>
            <p:nvPr/>
          </p:nvSpPr>
          <p:spPr>
            <a:xfrm>
              <a:off x="4953000" y="3048000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LLM selection based on Local or Cloud constraints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17" name="Google Shape;31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0000" y="3797300"/>
            <a:ext cx="254100" cy="2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5"/>
          <p:cNvGrpSpPr/>
          <p:nvPr/>
        </p:nvGrpSpPr>
        <p:grpSpPr>
          <a:xfrm>
            <a:off x="9143771" y="2031949"/>
            <a:ext cx="2539937" cy="3555911"/>
            <a:chOff x="6858000" y="1524000"/>
            <a:chExt cx="1905000" cy="2667000"/>
          </a:xfrm>
        </p:grpSpPr>
        <p:sp>
          <p:nvSpPr>
            <p:cNvPr id="319" name="Google Shape;319;p25"/>
            <p:cNvSpPr/>
            <p:nvPr/>
          </p:nvSpPr>
          <p:spPr>
            <a:xfrm>
              <a:off x="6858000" y="1524000"/>
              <a:ext cx="1905000" cy="26670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 txBox="1"/>
            <p:nvPr/>
          </p:nvSpPr>
          <p:spPr>
            <a:xfrm>
              <a:off x="70485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question_answer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1" name="Google Shape;321;p25"/>
            <p:cNvSpPr txBox="1"/>
            <p:nvPr/>
          </p:nvSpPr>
          <p:spPr>
            <a:xfrm>
              <a:off x="7048500" y="219075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33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2933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22" name="Google Shape;322;p25"/>
            <p:cNvSpPr txBox="1"/>
            <p:nvPr/>
          </p:nvSpPr>
          <p:spPr>
            <a:xfrm>
              <a:off x="7048500" y="26670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Answer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7048500" y="3048000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6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Final response generated with source citations</a:t>
              </a:r>
              <a:endParaRPr b="0" sz="146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24" name="Google Shape;3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083300"/>
            <a:ext cx="10668000" cy="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/>
          <p:nvPr/>
        </p:nvSpPr>
        <p:spPr>
          <a:xfrm>
            <a:off x="1955800" y="6019800"/>
            <a:ext cx="152400" cy="152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4749800" y="6019800"/>
            <a:ext cx="152400" cy="152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7543800" y="6019800"/>
            <a:ext cx="152400" cy="152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10337800" y="6019800"/>
            <a:ext cx="152400" cy="152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26"/>
          <p:cNvGraphicFramePr/>
          <p:nvPr/>
        </p:nvGraphicFramePr>
        <p:xfrm>
          <a:off x="571500" y="2259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{9F7D7802-0E29-4FCF-93C8-69D14B03BA88}</a:tableStyleId>
              </a:tblPr>
              <a:tblGrid>
                <a:gridCol w="2528300"/>
                <a:gridCol w="3726800"/>
                <a:gridCol w="4793900"/>
              </a:tblGrid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B5C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B5C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B5C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HTML, </a:t>
                      </a: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CSS, 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 SaaS Dashboard 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Spring Boot / Java 17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Auth, APIs, DB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Microservice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/ FastAPI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RAG Pipeline, Embeddings, LLMs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MySQL + FAISS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Relational Data + Vector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 / Ollama / Llama3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Online &amp; Offline Generative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335" name="Google Shape;335;p26"/>
          <p:cNvSpPr/>
          <p:nvPr/>
        </p:nvSpPr>
        <p:spPr>
          <a:xfrm>
            <a:off x="571500" y="3464718"/>
            <a:ext cx="25282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3099792" y="3464718"/>
            <a:ext cx="3726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6826597" y="3464718"/>
            <a:ext cx="47939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71500" y="4055268"/>
            <a:ext cx="25282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3099792" y="4055268"/>
            <a:ext cx="3726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826597" y="4055268"/>
            <a:ext cx="47939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571500" y="4645818"/>
            <a:ext cx="25282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3099792" y="4645818"/>
            <a:ext cx="3726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6826597" y="4645818"/>
            <a:ext cx="47939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571500" y="5236368"/>
            <a:ext cx="25282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3099792" y="5236368"/>
            <a:ext cx="3726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6826597" y="5236368"/>
            <a:ext cx="47939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571500" y="5826918"/>
            <a:ext cx="25282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3099792" y="5826918"/>
            <a:ext cx="3726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6826597" y="5826918"/>
            <a:ext cx="47939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Technology Stack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/>
        </p:nvSpPr>
        <p:spPr>
          <a:xfrm>
            <a:off x="1333500" y="3155156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Auth Module: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Secure login with JWT.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1333500" y="3650456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Parser Module: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LangChain-based text extraction.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1333500" y="4145756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Embedding Engine: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HuggingFace models for vectors.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6953250" y="3155156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Retrieval Engine: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K-Nearest Neighbor search.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6953250" y="3650456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Inference Router: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API/Local LLM gateway.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6953250" y="4145756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UI Dashboard: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Responsive React/SaaS interface.</a:t>
            </a:r>
            <a:endParaRPr/>
          </a:p>
        </p:txBody>
      </p:sp>
      <p:pic>
        <p:nvPicPr>
          <p:cNvPr descr="image.png" id="363" name="Google Shape;36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19325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68855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838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319325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368855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4183856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Core System Modules</a:t>
            </a:r>
            <a:endParaRPr/>
          </a:p>
        </p:txBody>
      </p:sp>
      <p:sp>
        <p:nvSpPr>
          <p:cNvPr id="370" name="Google Shape;370;p27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4143"/>
            <a:ext cx="52387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74143"/>
            <a:ext cx="52387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8"/>
          <p:cNvSpPr txBox="1"/>
          <p:nvPr/>
        </p:nvSpPr>
        <p:spPr>
          <a:xfrm>
            <a:off x="962025" y="3369468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Cleaning Stage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962025" y="3931443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Removal of boilerplate text, extra whitespaces, and metadata cleaning to ensure pure semantic content.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6772275" y="3369468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Semantic Chunking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6772275" y="3931443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Overlap-based chunking (e.g., 500 chars with 50 overlap) to preserve context between adjacent text blocks.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Document Parsing &amp; Chunking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82725"/>
            <a:ext cx="5238750" cy="3535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52973"/>
            <a:ext cx="5238750" cy="69026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571500" y="305767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use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Cosine Similarity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determine relevance: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571500" y="443373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FAISS stores these as high-dimensional floats (384/768 dims) for sub-millisecond search.</a:t>
            </a:r>
            <a:endParaRPr/>
          </a:p>
        </p:txBody>
      </p:sp>
      <p:pic>
        <p:nvPicPr>
          <p:cNvPr descr="image.png" id="393" name="Google Shape;39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292250"/>
            <a:ext cx="5219700" cy="351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743473"/>
            <a:ext cx="4857750" cy="30926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9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Vectorization &amp; Storage</a:t>
            </a:r>
            <a:endParaRPr/>
          </a:p>
        </p:txBody>
      </p:sp>
      <p:sp>
        <p:nvSpPr>
          <p:cNvPr id="396" name="Google Shape;396;p29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 txBox="1"/>
          <p:nvPr/>
        </p:nvSpPr>
        <p:spPr>
          <a:xfrm>
            <a:off x="1333500" y="31361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Top-K Retrieval: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Selecting the top 3-5 most relevant text segments.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1333500" y="36314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Re-ranking: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(Optional) Refining results based on secondary cross-encoders.</a:t>
            </a:r>
            <a:endParaRPr/>
          </a:p>
        </p:txBody>
      </p:sp>
      <p:sp>
        <p:nvSpPr>
          <p:cNvPr id="404" name="Google Shape;404;p30"/>
          <p:cNvSpPr txBox="1"/>
          <p:nvPr/>
        </p:nvSpPr>
        <p:spPr>
          <a:xfrm>
            <a:off x="1333500" y="41267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Context Stitching: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Formatting chunks into a coherent block for the prompt.</a:t>
            </a:r>
            <a:endParaRPr/>
          </a:p>
        </p:txBody>
      </p:sp>
      <p:sp>
        <p:nvSpPr>
          <p:cNvPr id="405" name="Google Shape;405;p30"/>
          <p:cNvSpPr txBox="1"/>
          <p:nvPr/>
        </p:nvSpPr>
        <p:spPr>
          <a:xfrm>
            <a:off x="1333500" y="46220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 Attribution: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Tracking page numbers and filenames for citations.</a:t>
            </a:r>
            <a:endParaRPr/>
          </a:p>
        </p:txBody>
      </p:sp>
      <p:pic>
        <p:nvPicPr>
          <p:cNvPr descr="image.png" id="406" name="Google Shape;4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1742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66950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6480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660106"/>
            <a:ext cx="209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0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Retrieval Engine</a:t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1"/>
          <p:cNvSpPr/>
          <p:nvPr/>
        </p:nvSpPr>
        <p:spPr>
          <a:xfrm>
            <a:off x="508000" y="508000"/>
            <a:ext cx="507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762000" y="5080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3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LLM Smart Router</a:t>
            </a:r>
            <a:endParaRPr b="1" sz="3733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8" name="Google Shape;418;p31"/>
          <p:cNvGrpSpPr/>
          <p:nvPr/>
        </p:nvGrpSpPr>
        <p:grpSpPr>
          <a:xfrm>
            <a:off x="761981" y="1777956"/>
            <a:ext cx="3809905" cy="4317892"/>
            <a:chOff x="571500" y="1333500"/>
            <a:chExt cx="2857500" cy="3238500"/>
          </a:xfrm>
        </p:grpSpPr>
        <p:sp>
          <p:nvSpPr>
            <p:cNvPr id="419" name="Google Shape;419;p31"/>
            <p:cNvSpPr/>
            <p:nvPr/>
          </p:nvSpPr>
          <p:spPr>
            <a:xfrm>
              <a:off x="571500" y="1333500"/>
              <a:ext cx="2857500" cy="3238500"/>
            </a:xfrm>
            <a:prstGeom prst="roundRect">
              <a:avLst>
                <a:gd fmla="val 4000" name="adj"/>
              </a:avLst>
            </a:prstGeom>
            <a:solidFill>
              <a:srgbClr val="1E293B">
                <a:alpha val="4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1"/>
            <p:cNvSpPr txBox="1"/>
            <p:nvPr/>
          </p:nvSpPr>
          <p:spPr>
            <a:xfrm>
              <a:off x="809625" y="161925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33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 Score</a:t>
              </a:r>
              <a:endParaRPr b="0" sz="1333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21" name="Google Shape;421;p31"/>
            <p:cNvSpPr txBox="1"/>
            <p:nvPr/>
          </p:nvSpPr>
          <p:spPr>
            <a:xfrm>
              <a:off x="809625" y="1905000"/>
              <a:ext cx="23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867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99%</a:t>
              </a:r>
              <a:endParaRPr b="0" sz="9867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22" name="Google Shape;422;p31"/>
            <p:cNvSpPr txBox="1"/>
            <p:nvPr/>
          </p:nvSpPr>
          <p:spPr>
            <a:xfrm>
              <a:off x="809625" y="323850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router ensures near-perfect uptime by intelligently switching between edge and cloud resources based on environment constraints.</a:t>
              </a:r>
              <a:endParaRPr b="0" sz="13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3" name="Google Shape;423;p31"/>
          <p:cNvGrpSpPr/>
          <p:nvPr/>
        </p:nvGrpSpPr>
        <p:grpSpPr>
          <a:xfrm>
            <a:off x="4952876" y="1777956"/>
            <a:ext cx="6477038" cy="2031949"/>
            <a:chOff x="3714750" y="1333500"/>
            <a:chExt cx="4857900" cy="1524000"/>
          </a:xfrm>
        </p:grpSpPr>
        <p:sp>
          <p:nvSpPr>
            <p:cNvPr id="424" name="Google Shape;424;p31"/>
            <p:cNvSpPr/>
            <p:nvPr/>
          </p:nvSpPr>
          <p:spPr>
            <a:xfrm>
              <a:off x="3714750" y="1333500"/>
              <a:ext cx="4857900" cy="1524000"/>
            </a:xfrm>
            <a:prstGeom prst="roundRect">
              <a:avLst>
                <a:gd fmla="val 7500" name="adj"/>
              </a:avLst>
            </a:prstGeom>
            <a:solidFill>
              <a:srgbClr val="1E293B">
                <a:alpha val="4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1"/>
            <p:cNvSpPr txBox="1"/>
            <p:nvPr/>
          </p:nvSpPr>
          <p:spPr>
            <a:xfrm>
              <a:off x="3952875" y="1571625"/>
              <a:ext cx="438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33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Decision Logic</a:t>
              </a:r>
              <a:endParaRPr b="0" sz="2133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26" name="Google Shape;426;p31"/>
            <p:cNvSpPr txBox="1"/>
            <p:nvPr/>
          </p:nvSpPr>
          <p:spPr>
            <a:xfrm>
              <a:off x="3952875" y="1952625"/>
              <a:ext cx="438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intelligent routing engine evaluates:</a:t>
              </a:r>
              <a:endParaRPr b="0" sz="13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90949" lvl="0" marL="609600" rtl="0" algn="l">
                <a:spcBef>
                  <a:spcPts val="800"/>
                </a:spcBef>
                <a:spcAft>
                  <a:spcPts val="0"/>
                </a:spcAft>
                <a:buClr>
                  <a:srgbClr val="94A3B8"/>
                </a:buClr>
                <a:buSzPts val="1357"/>
                <a:buFont typeface="Inter"/>
                <a:buChar char="●"/>
              </a:pPr>
              <a:r>
                <a:rPr b="0" lang="en-US" sz="13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Network Availability &amp; Latency</a:t>
              </a:r>
              <a:endParaRPr b="0" sz="13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90949" lvl="0" marL="609600" rtl="0" algn="l">
                <a:spcBef>
                  <a:spcPts val="400"/>
                </a:spcBef>
                <a:spcAft>
                  <a:spcPts val="0"/>
                </a:spcAft>
                <a:buClr>
                  <a:srgbClr val="94A3B8"/>
                </a:buClr>
                <a:buSzPts val="1357"/>
                <a:buFont typeface="Inter"/>
                <a:buChar char="●"/>
              </a:pPr>
              <a:r>
                <a:rPr b="0" lang="en-US" sz="13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Document Classification (Sensitive vs Public)</a:t>
              </a:r>
              <a:endParaRPr b="0" sz="13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90949" lvl="0" marL="609600" rtl="0" algn="l">
                <a:spcBef>
                  <a:spcPts val="400"/>
                </a:spcBef>
                <a:spcAft>
                  <a:spcPts val="0"/>
                </a:spcAft>
                <a:buClr>
                  <a:srgbClr val="94A3B8"/>
                </a:buClr>
                <a:buSzPts val="1357"/>
                <a:buFont typeface="Inter"/>
                <a:buChar char="●"/>
              </a:pPr>
              <a:r>
                <a:rPr b="0" lang="en-US" sz="135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Task Complexity &amp; Token Requirements</a:t>
              </a:r>
              <a:endParaRPr b="0" sz="135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7" name="Google Shape;427;p31"/>
          <p:cNvGrpSpPr/>
          <p:nvPr/>
        </p:nvGrpSpPr>
        <p:grpSpPr>
          <a:xfrm>
            <a:off x="4952876" y="4063898"/>
            <a:ext cx="3111522" cy="2031949"/>
            <a:chOff x="3714750" y="3048000"/>
            <a:chExt cx="2333700" cy="1524000"/>
          </a:xfrm>
        </p:grpSpPr>
        <p:sp>
          <p:nvSpPr>
            <p:cNvPr id="428" name="Google Shape;428;p31"/>
            <p:cNvSpPr/>
            <p:nvPr/>
          </p:nvSpPr>
          <p:spPr>
            <a:xfrm>
              <a:off x="3714750" y="3048000"/>
              <a:ext cx="2333700" cy="1524000"/>
            </a:xfrm>
            <a:prstGeom prst="roundRect">
              <a:avLst>
                <a:gd fmla="val 7500" name="adj"/>
              </a:avLst>
            </a:prstGeom>
            <a:solidFill>
              <a:srgbClr val="1E293B">
                <a:alpha val="4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9" name="Google Shape;429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52875" y="33337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1"/>
            <p:cNvSpPr txBox="1"/>
            <p:nvPr/>
          </p:nvSpPr>
          <p:spPr>
            <a:xfrm>
              <a:off x="3952875" y="336003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4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1" name="Google Shape;431;p31"/>
            <p:cNvSpPr txBox="1"/>
            <p:nvPr/>
          </p:nvSpPr>
          <p:spPr>
            <a:xfrm>
              <a:off x="3952875" y="3762375"/>
              <a:ext cx="1905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33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Llama-3-8B</a:t>
              </a:r>
              <a:endParaRPr b="0" sz="1733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32" name="Google Shape;432;p31"/>
            <p:cNvSpPr txBox="1"/>
            <p:nvPr/>
          </p:nvSpPr>
          <p:spPr>
            <a:xfrm>
              <a:off x="3952875" y="4000500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33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Offline &amp; Sensitive routing to Local compute.</a:t>
              </a:r>
              <a:endParaRPr b="0" sz="133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3" name="Google Shape;433;p31"/>
          <p:cNvGrpSpPr/>
          <p:nvPr/>
        </p:nvGrpSpPr>
        <p:grpSpPr>
          <a:xfrm>
            <a:off x="8318292" y="4063898"/>
            <a:ext cx="3111522" cy="2031949"/>
            <a:chOff x="6238875" y="3048000"/>
            <a:chExt cx="2333700" cy="1524000"/>
          </a:xfrm>
        </p:grpSpPr>
        <p:sp>
          <p:nvSpPr>
            <p:cNvPr id="434" name="Google Shape;434;p31"/>
            <p:cNvSpPr/>
            <p:nvPr/>
          </p:nvSpPr>
          <p:spPr>
            <a:xfrm>
              <a:off x="6238875" y="3048000"/>
              <a:ext cx="2333700" cy="1524000"/>
            </a:xfrm>
            <a:prstGeom prst="roundRect">
              <a:avLst>
                <a:gd fmla="val 7500" name="adj"/>
              </a:avLst>
            </a:prstGeom>
            <a:solidFill>
              <a:srgbClr val="1E293B">
                <a:alpha val="4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5" name="Google Shape;435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77000" y="33337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1"/>
            <p:cNvSpPr txBox="1"/>
            <p:nvPr/>
          </p:nvSpPr>
          <p:spPr>
            <a:xfrm>
              <a:off x="6477000" y="336003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7" name="Google Shape;437;p31"/>
            <p:cNvSpPr txBox="1"/>
            <p:nvPr/>
          </p:nvSpPr>
          <p:spPr>
            <a:xfrm>
              <a:off x="6477000" y="3762375"/>
              <a:ext cx="1905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33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GPT-4o</a:t>
              </a:r>
              <a:endParaRPr b="0" sz="1733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38" name="Google Shape;438;p31"/>
            <p:cNvSpPr txBox="1"/>
            <p:nvPr/>
          </p:nvSpPr>
          <p:spPr>
            <a:xfrm>
              <a:off x="6477000" y="4000500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33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Online &amp; Authorized hits via Cloud API.</a:t>
              </a:r>
              <a:endParaRPr b="0" sz="133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3" name="Google Shape;4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5556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5556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5556"/>
            <a:ext cx="349254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2"/>
          <p:cNvSpPr txBox="1"/>
          <p:nvPr/>
        </p:nvSpPr>
        <p:spPr>
          <a:xfrm>
            <a:off x="962025" y="3802856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Private Mode</a:t>
            </a:r>
            <a:endParaRPr/>
          </a:p>
        </p:txBody>
      </p:sp>
      <p:sp>
        <p:nvSpPr>
          <p:cNvPr id="448" name="Google Shape;448;p32"/>
          <p:cNvSpPr txBox="1"/>
          <p:nvPr/>
        </p:nvSpPr>
        <p:spPr>
          <a:xfrm>
            <a:off x="962025" y="4364831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offline processing for ultimate data privacy.</a:t>
            </a: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4740324" y="3802856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Citation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4740324" y="4364831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Verifiable answers with links to document pages.</a:t>
            </a: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8518624" y="3802856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Multi-User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8518624" y="4364831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User-isolated document workspaces.</a:t>
            </a:r>
            <a:endParaRPr/>
          </a:p>
        </p:txBody>
      </p:sp>
      <p:pic>
        <p:nvPicPr>
          <p:cNvPr descr="image.png" id="453" name="Google Shape;453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983706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98370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983706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Platform Features</a:t>
            </a:r>
            <a:endParaRPr/>
          </a:p>
        </p:txBody>
      </p:sp>
      <p:sp>
        <p:nvSpPr>
          <p:cNvPr id="457" name="Google Shape;457;p32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2" name="Google Shape;4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3"/>
          <p:cNvSpPr txBox="1"/>
          <p:nvPr/>
        </p:nvSpPr>
        <p:spPr>
          <a:xfrm>
            <a:off x="1333500" y="31361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Zero Cost (Offline):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Local models consume no API credits.</a:t>
            </a:r>
            <a:endParaRPr/>
          </a:p>
        </p:txBody>
      </p:sp>
      <p:sp>
        <p:nvSpPr>
          <p:cNvPr id="464" name="Google Shape;464;p33"/>
          <p:cNvSpPr txBox="1"/>
          <p:nvPr/>
        </p:nvSpPr>
        <p:spPr>
          <a:xfrm>
            <a:off x="1333500" y="36314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Reliability: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Works during internet outages.</a:t>
            </a:r>
            <a:endParaRPr/>
          </a:p>
        </p:txBody>
      </p:sp>
      <p:sp>
        <p:nvSpPr>
          <p:cNvPr id="465" name="Google Shape;465;p33"/>
          <p:cNvSpPr txBox="1"/>
          <p:nvPr/>
        </p:nvSpPr>
        <p:spPr>
          <a:xfrm>
            <a:off x="1333500" y="41267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Modular backend allows adding more LLMs easily.</a:t>
            </a:r>
            <a:endParaRPr/>
          </a:p>
        </p:txBody>
      </p:sp>
      <p:sp>
        <p:nvSpPr>
          <p:cNvPr id="466" name="Google Shape;466;p33"/>
          <p:cNvSpPr txBox="1"/>
          <p:nvPr/>
        </p:nvSpPr>
        <p:spPr>
          <a:xfrm>
            <a:off x="1333500" y="462200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Contextual Power: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RAG grounding eliminates generic AI filler.</a:t>
            </a:r>
            <a:endParaRPr/>
          </a:p>
        </p:txBody>
      </p:sp>
      <p:pic>
        <p:nvPicPr>
          <p:cNvPr descr="image.png" id="467" name="Google Shape;46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1742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1648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66010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3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Advantages</a:t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4"/>
          <p:cNvSpPr txBox="1"/>
          <p:nvPr/>
        </p:nvSpPr>
        <p:spPr>
          <a:xfrm>
            <a:off x="1333500" y="338375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Hardware Dependency: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Local models require 8GB+ RAM.</a:t>
            </a:r>
            <a:endParaRPr/>
          </a:p>
        </p:txBody>
      </p:sp>
      <p:sp>
        <p:nvSpPr>
          <p:cNvPr id="479" name="Google Shape;479;p34"/>
          <p:cNvSpPr txBox="1"/>
          <p:nvPr/>
        </p:nvSpPr>
        <p:spPr>
          <a:xfrm>
            <a:off x="1333500" y="387905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Cold Starts: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Local model loading can take 5-10 seconds.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1333500" y="4374356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Complex Formatting: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Scanned PDFs require OCR (Future scope).</a:t>
            </a:r>
            <a:endParaRPr/>
          </a:p>
        </p:txBody>
      </p:sp>
      <p:pic>
        <p:nvPicPr>
          <p:cNvPr descr="image.png" id="481" name="Google Shape;48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2185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1715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41245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4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Current Limitations</a:t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0" name="Google Shape;4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5"/>
          <p:cNvSpPr txBox="1"/>
          <p:nvPr/>
        </p:nvSpPr>
        <p:spPr>
          <a:xfrm>
            <a:off x="571500" y="3521868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Multimodal Support</a:t>
            </a:r>
            <a:endParaRPr/>
          </a:p>
        </p:txBody>
      </p:sp>
      <p:sp>
        <p:nvSpPr>
          <p:cNvPr id="492" name="Google Shape;492;p35"/>
          <p:cNvSpPr txBox="1"/>
          <p:nvPr/>
        </p:nvSpPr>
        <p:spPr>
          <a:xfrm>
            <a:off x="571500" y="408384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Expanding to images, audio transcripts, and video content analysis using Vision-RAG.</a:t>
            </a:r>
            <a:endParaRPr/>
          </a:p>
        </p:txBody>
      </p:sp>
      <p:sp>
        <p:nvSpPr>
          <p:cNvPr id="493" name="Google Shape;493;p35"/>
          <p:cNvSpPr txBox="1"/>
          <p:nvPr/>
        </p:nvSpPr>
        <p:spPr>
          <a:xfrm>
            <a:off x="6381750" y="3521868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Edge Deployment</a:t>
            </a:r>
            <a:endParaRPr/>
          </a:p>
        </p:txBody>
      </p:sp>
      <p:sp>
        <p:nvSpPr>
          <p:cNvPr id="494" name="Google Shape;494;p35"/>
          <p:cNvSpPr txBox="1"/>
          <p:nvPr/>
        </p:nvSpPr>
        <p:spPr>
          <a:xfrm>
            <a:off x="6381750" y="408384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for mobile devices using TensorFlow Lite or MLC-LLM for true portability.</a:t>
            </a:r>
            <a:endParaRPr/>
          </a:p>
        </p:txBody>
      </p:sp>
      <p:sp>
        <p:nvSpPr>
          <p:cNvPr id="495" name="Google Shape;495;p35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Roadmap Ahead</a:t>
            </a: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1" name="Google Shape;5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097049"/>
            <a:ext cx="3125950" cy="31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6"/>
          <p:cNvSpPr txBox="1"/>
          <p:nvPr/>
        </p:nvSpPr>
        <p:spPr>
          <a:xfrm>
            <a:off x="295275" y="1203870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Research Foundation</a:t>
            </a:r>
            <a:endParaRPr/>
          </a:p>
        </p:txBody>
      </p:sp>
      <p:sp>
        <p:nvSpPr>
          <p:cNvPr id="504" name="Google Shape;504;p36"/>
          <p:cNvSpPr txBox="1"/>
          <p:nvPr/>
        </p:nvSpPr>
        <p:spPr>
          <a:xfrm>
            <a:off x="571500" y="250879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 Literature and Theoretical Insights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7"/>
          <p:cNvSpPr/>
          <p:nvPr/>
        </p:nvSpPr>
        <p:spPr>
          <a:xfrm>
            <a:off x="508000" y="508000"/>
            <a:ext cx="50700" cy="507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762000" y="5080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3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Paper 1: RAG Architecture</a:t>
            </a:r>
            <a:endParaRPr b="1" sz="3733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508000" y="1778000"/>
            <a:ext cx="5715300" cy="4317900"/>
          </a:xfrm>
          <a:prstGeom prst="roundRect">
            <a:avLst>
              <a:gd fmla="val 352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7"/>
          <p:cNvSpPr txBox="1"/>
          <p:nvPr/>
        </p:nvSpPr>
        <p:spPr>
          <a:xfrm>
            <a:off x="889000" y="2159000"/>
            <a:ext cx="495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Lewis et al. (FAIR)</a:t>
            </a:r>
            <a:endParaRPr b="0" sz="2400">
              <a:solidFill>
                <a:srgbClr val="3B82F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13" name="Google Shape;513;p37"/>
          <p:cNvGrpSpPr/>
          <p:nvPr/>
        </p:nvGrpSpPr>
        <p:grpSpPr>
          <a:xfrm>
            <a:off x="888978" y="2920927"/>
            <a:ext cx="4953076" cy="825579"/>
            <a:chOff x="666750" y="2190750"/>
            <a:chExt cx="3714900" cy="619200"/>
          </a:xfrm>
        </p:grpSpPr>
        <p:sp>
          <p:nvSpPr>
            <p:cNvPr id="514" name="Google Shape;514;p37"/>
            <p:cNvSpPr/>
            <p:nvPr/>
          </p:nvSpPr>
          <p:spPr>
            <a:xfrm>
              <a:off x="666750" y="2190750"/>
              <a:ext cx="3714900" cy="619200"/>
            </a:xfrm>
            <a:prstGeom prst="roundRect">
              <a:avLst>
                <a:gd fmla="val 12307" name="adj"/>
              </a:avLst>
            </a:prstGeom>
            <a:solidFill>
              <a:srgbClr val="0F172A"/>
            </a:solidFill>
            <a:ln cap="flat" cmpd="sng" w="637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7"/>
            <p:cNvSpPr txBox="1"/>
            <p:nvPr/>
          </p:nvSpPr>
          <p:spPr>
            <a:xfrm>
              <a:off x="809625" y="2286000"/>
              <a:ext cx="342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TITLE:</a:t>
              </a:r>
              <a:r>
                <a:rPr b="0" lang="en-US" sz="1247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Retrieval-Augmented Generation for Knowledge-Intensive NLP Tasks.</a:t>
              </a:r>
              <a:endParaRPr b="0" sz="124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6" name="Google Shape;516;p37"/>
          <p:cNvGrpSpPr/>
          <p:nvPr/>
        </p:nvGrpSpPr>
        <p:grpSpPr>
          <a:xfrm>
            <a:off x="888978" y="3936902"/>
            <a:ext cx="4953076" cy="1079573"/>
            <a:chOff x="666750" y="2952750"/>
            <a:chExt cx="3714900" cy="809700"/>
          </a:xfrm>
        </p:grpSpPr>
        <p:sp>
          <p:nvSpPr>
            <p:cNvPr id="517" name="Google Shape;517;p37"/>
            <p:cNvSpPr/>
            <p:nvPr/>
          </p:nvSpPr>
          <p:spPr>
            <a:xfrm>
              <a:off x="666750" y="2952750"/>
              <a:ext cx="3714900" cy="809700"/>
            </a:xfrm>
            <a:prstGeom prst="roundRect">
              <a:avLst>
                <a:gd fmla="val 9411" name="adj"/>
              </a:avLst>
            </a:prstGeom>
            <a:solidFill>
              <a:srgbClr val="0F172A"/>
            </a:solidFill>
            <a:ln cap="flat" cmpd="sng" w="637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7"/>
            <p:cNvSpPr txBox="1"/>
            <p:nvPr/>
          </p:nvSpPr>
          <p:spPr>
            <a:xfrm>
              <a:off x="809625" y="3048000"/>
              <a:ext cx="3429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KEY INSIGHT:</a:t>
              </a:r>
              <a:r>
                <a:rPr b="0" lang="en-US" sz="1247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Proved that parametric (LLM) and non-parametric (Docs) memory combined outperform standalone LLMs.</a:t>
              </a:r>
              <a:endParaRPr b="0" sz="124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9" name="Google Shape;519;p37"/>
          <p:cNvGrpSpPr/>
          <p:nvPr/>
        </p:nvGrpSpPr>
        <p:grpSpPr>
          <a:xfrm>
            <a:off x="888978" y="5206870"/>
            <a:ext cx="4953076" cy="635184"/>
            <a:chOff x="666750" y="3905250"/>
            <a:chExt cx="3714900" cy="476400"/>
          </a:xfrm>
        </p:grpSpPr>
        <p:sp>
          <p:nvSpPr>
            <p:cNvPr id="520" name="Google Shape;520;p37"/>
            <p:cNvSpPr/>
            <p:nvPr/>
          </p:nvSpPr>
          <p:spPr>
            <a:xfrm>
              <a:off x="666750" y="3905250"/>
              <a:ext cx="3714900" cy="476400"/>
            </a:xfrm>
            <a:prstGeom prst="roundRect">
              <a:avLst>
                <a:gd fmla="val 16000" name="adj"/>
              </a:avLst>
            </a:prstGeom>
            <a:solidFill>
              <a:srgbClr val="0F172A"/>
            </a:solidFill>
            <a:ln cap="flat" cmpd="sng" w="637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7"/>
            <p:cNvSpPr txBox="1"/>
            <p:nvPr/>
          </p:nvSpPr>
          <p:spPr>
            <a:xfrm>
              <a:off x="809625" y="4000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RELATION:</a:t>
              </a:r>
              <a:r>
                <a:rPr b="0" lang="en-US" sz="1247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Forms the core theoretical base of DocuMind.</a:t>
              </a:r>
              <a:endParaRPr b="0" sz="124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22" name="Google Shape;522;p37"/>
          <p:cNvSpPr/>
          <p:nvPr/>
        </p:nvSpPr>
        <p:spPr>
          <a:xfrm>
            <a:off x="6604000" y="1778000"/>
            <a:ext cx="5079900" cy="4317900"/>
          </a:xfrm>
          <a:prstGeom prst="roundRect">
            <a:avLst>
              <a:gd fmla="val 352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 technical diagram of a Retrieval-Augmented Generation (RAG) system workflow, showing a user query, a retriever fetching documents, and an LLM generating a response. Clean, modern, high-tech aesthetic on a dark background." id="523" name="Google Shape;523;p37"/>
          <p:cNvPicPr preferRelativeResize="0"/>
          <p:nvPr/>
        </p:nvPicPr>
        <p:blipFill rotWithShape="1">
          <a:blip r:embed="rId4">
            <a:alphaModFix/>
          </a:blip>
          <a:srcRect b="-2912" l="5109" r="4458" t="0"/>
          <a:stretch/>
        </p:blipFill>
        <p:spPr>
          <a:xfrm>
            <a:off x="6453200" y="1688725"/>
            <a:ext cx="5313900" cy="45354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  <p:pic>
        <p:nvPicPr>
          <p:cNvPr id="524" name="Google Shape;52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4000" y="5732300"/>
            <a:ext cx="5079900" cy="3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7"/>
          <p:cNvSpPr txBox="1"/>
          <p:nvPr/>
        </p:nvSpPr>
        <p:spPr>
          <a:xfrm>
            <a:off x="6604000" y="5732200"/>
            <a:ext cx="5079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 SYSTEM WORKFLOW OVERVIEW</a:t>
            </a:r>
            <a:endParaRPr b="1" sz="136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8"/>
          <p:cNvSpPr/>
          <p:nvPr/>
        </p:nvSpPr>
        <p:spPr>
          <a:xfrm>
            <a:off x="381000" y="412173"/>
            <a:ext cx="53700" cy="537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8"/>
          <p:cNvSpPr txBox="1"/>
          <p:nvPr/>
        </p:nvSpPr>
        <p:spPr>
          <a:xfrm>
            <a:off x="649432" y="304800"/>
            <a:ext cx="115425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9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Paper 2: Dense Retrieval</a:t>
            </a:r>
            <a:endParaRPr b="1" sz="4509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31" name="Google Shape;531;p38"/>
          <p:cNvGrpSpPr/>
          <p:nvPr/>
        </p:nvGrpSpPr>
        <p:grpSpPr>
          <a:xfrm>
            <a:off x="381003" y="1351694"/>
            <a:ext cx="6979272" cy="5234666"/>
            <a:chOff x="381000" y="1047750"/>
            <a:chExt cx="4953000" cy="3714900"/>
          </a:xfrm>
        </p:grpSpPr>
        <p:sp>
          <p:nvSpPr>
            <p:cNvPr id="532" name="Google Shape;532;p38"/>
            <p:cNvSpPr/>
            <p:nvPr/>
          </p:nvSpPr>
          <p:spPr>
            <a:xfrm>
              <a:off x="381000" y="1047750"/>
              <a:ext cx="4953000" cy="3714900"/>
            </a:xfrm>
            <a:prstGeom prst="roundRect">
              <a:avLst>
                <a:gd fmla="val 4102" name="adj"/>
              </a:avLst>
            </a:prstGeom>
            <a:solidFill>
              <a:srgbClr val="1E293B"/>
            </a:solidFill>
            <a:ln cap="flat" cmpd="sng" w="134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8"/>
            <p:cNvSpPr txBox="1"/>
            <p:nvPr/>
          </p:nvSpPr>
          <p:spPr>
            <a:xfrm>
              <a:off x="666750" y="133350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536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Karpukhin et al.</a:t>
              </a:r>
              <a:endParaRPr b="0" sz="2536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34" name="Google Shape;534;p38"/>
            <p:cNvSpPr txBox="1"/>
            <p:nvPr/>
          </p:nvSpPr>
          <p:spPr>
            <a:xfrm>
              <a:off x="666750" y="1714500"/>
              <a:ext cx="438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9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Official Publication:</a:t>
              </a:r>
              <a:endParaRPr b="0" sz="169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23"/>
                </a:spcBef>
                <a:spcAft>
                  <a:spcPts val="0"/>
                </a:spcAft>
                <a:buNone/>
              </a:pPr>
              <a:r>
                <a:rPr b="0" i="1" lang="en-US" sz="169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"Dense Passage Retrieval (DPR) for Open-Domain QA"</a:t>
              </a:r>
              <a:endParaRPr b="0" i="1" sz="169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666750" y="2476500"/>
              <a:ext cx="4381500" cy="857400"/>
            </a:xfrm>
            <a:prstGeom prst="roundRect">
              <a:avLst>
                <a:gd fmla="val 8888" name="adj"/>
              </a:avLst>
            </a:prstGeom>
            <a:solidFill>
              <a:srgbClr val="0F172A"/>
            </a:solidFill>
            <a:ln cap="flat" cmpd="sng" w="67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8"/>
            <p:cNvSpPr txBox="1"/>
            <p:nvPr/>
          </p:nvSpPr>
          <p:spPr>
            <a:xfrm>
              <a:off x="809625" y="2571750"/>
              <a:ext cx="4095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9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Key Insight</a:t>
              </a:r>
              <a:endParaRPr b="0" sz="169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34"/>
                </a:spcBef>
                <a:spcAft>
                  <a:spcPts val="0"/>
                </a:spcAft>
                <a:buNone/>
              </a:pPr>
              <a:r>
                <a:rPr b="0" lang="en-US" sz="169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Dense embeddings outperform sparse (TF-IDF) methods by capturing latent semantic meaning.</a:t>
              </a:r>
              <a:endParaRPr b="0" sz="169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7" name="Google Shape;537;p38"/>
            <p:cNvSpPr txBox="1"/>
            <p:nvPr/>
          </p:nvSpPr>
          <p:spPr>
            <a:xfrm>
              <a:off x="666750" y="3524250"/>
              <a:ext cx="438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9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Project Impact</a:t>
              </a:r>
              <a:endParaRPr b="0" sz="169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45"/>
                </a:spcBef>
                <a:spcAft>
                  <a:spcPts val="0"/>
                </a:spcAft>
                <a:buNone/>
              </a:pPr>
              <a:r>
                <a:rPr b="0" lang="en-US" sz="169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Guided our choice of Sentence-Transformers for embedding generation within DocuMind.</a:t>
              </a:r>
              <a:endParaRPr b="0" sz="169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8" name="Google Shape;538;p38"/>
          <p:cNvGrpSpPr/>
          <p:nvPr/>
        </p:nvGrpSpPr>
        <p:grpSpPr>
          <a:xfrm>
            <a:off x="7628709" y="1351694"/>
            <a:ext cx="4563370" cy="5234666"/>
            <a:chOff x="5524500" y="1047750"/>
            <a:chExt cx="3238500" cy="3714900"/>
          </a:xfrm>
        </p:grpSpPr>
        <p:sp>
          <p:nvSpPr>
            <p:cNvPr id="539" name="Google Shape;539;p38"/>
            <p:cNvSpPr/>
            <p:nvPr/>
          </p:nvSpPr>
          <p:spPr>
            <a:xfrm>
              <a:off x="5524500" y="1047750"/>
              <a:ext cx="3238500" cy="37149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 cap="flat" cmpd="sng" w="134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uturistic, cinematic 3D visualization of a neural network manifold. Glowing data points connected by thin neon blue and purple fibers in a dark, infinite void representing high-dimensional vector space. Professional tech aesthetic." id="540" name="Google Shape;54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24500" y="1095375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8"/>
            <p:cNvSpPr txBox="1"/>
            <p:nvPr/>
          </p:nvSpPr>
          <p:spPr>
            <a:xfrm>
              <a:off x="5715000" y="41910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HIGH-DIMENSIONAL</a:t>
              </a:r>
              <a:br>
                <a:rPr b="1" lang="en-US" sz="126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-US" sz="126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VECTOR SPACE REPRESENTATION</a:t>
              </a:r>
              <a:endParaRPr b="1" sz="126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9"/>
          <p:cNvSpPr/>
          <p:nvPr/>
        </p:nvSpPr>
        <p:spPr>
          <a:xfrm>
            <a:off x="381000" y="411274"/>
            <a:ext cx="60000" cy="532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9"/>
          <p:cNvSpPr txBox="1"/>
          <p:nvPr/>
        </p:nvSpPr>
        <p:spPr>
          <a:xfrm>
            <a:off x="647185" y="304800"/>
            <a:ext cx="114459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7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Paper 3: FAISS Efficiency</a:t>
            </a:r>
            <a:endParaRPr b="1" sz="4471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39"/>
          <p:cNvSpPr/>
          <p:nvPr/>
        </p:nvSpPr>
        <p:spPr>
          <a:xfrm>
            <a:off x="381000" y="1342923"/>
            <a:ext cx="6122400" cy="5190900"/>
          </a:xfrm>
          <a:prstGeom prst="roundRect">
            <a:avLst>
              <a:gd fmla="val 4102" name="adj"/>
            </a:avLst>
          </a:prstGeom>
          <a:solidFill>
            <a:srgbClr val="1E293B"/>
          </a:solidFill>
          <a:ln cap="flat" cmpd="sng" w="13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9"/>
          <p:cNvSpPr txBox="1"/>
          <p:nvPr/>
        </p:nvSpPr>
        <p:spPr>
          <a:xfrm>
            <a:off x="780278" y="1742202"/>
            <a:ext cx="53238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15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Johnson et al.</a:t>
            </a:r>
            <a:endParaRPr b="0" sz="2515">
              <a:solidFill>
                <a:srgbClr val="3B82F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49" name="Google Shape;549;p39"/>
          <p:cNvSpPr/>
          <p:nvPr/>
        </p:nvSpPr>
        <p:spPr>
          <a:xfrm>
            <a:off x="780278" y="2474212"/>
            <a:ext cx="5323800" cy="998100"/>
          </a:xfrm>
          <a:prstGeom prst="roundRect">
            <a:avLst>
              <a:gd fmla="val 10666" name="adj"/>
            </a:avLst>
          </a:prstGeom>
          <a:solidFill>
            <a:srgbClr val="0F172A"/>
          </a:solidFill>
          <a:ln cap="flat" cmpd="sng" w="66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9"/>
          <p:cNvSpPr txBox="1"/>
          <p:nvPr/>
        </p:nvSpPr>
        <p:spPr>
          <a:xfrm>
            <a:off x="979917" y="2607304"/>
            <a:ext cx="49245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b="1" sz="1537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9"/>
          <p:cNvSpPr txBox="1"/>
          <p:nvPr/>
        </p:nvSpPr>
        <p:spPr>
          <a:xfrm>
            <a:off x="979917" y="2873490"/>
            <a:ext cx="49245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1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"Billion-scale similarity search with GPUs"</a:t>
            </a:r>
            <a:endParaRPr b="0" i="1" sz="1816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9"/>
          <p:cNvSpPr/>
          <p:nvPr/>
        </p:nvSpPr>
        <p:spPr>
          <a:xfrm>
            <a:off x="780278" y="3672046"/>
            <a:ext cx="5323800" cy="1330800"/>
          </a:xfrm>
          <a:prstGeom prst="roundRect">
            <a:avLst>
              <a:gd fmla="val 8000" name="adj"/>
            </a:avLst>
          </a:prstGeom>
          <a:solidFill>
            <a:srgbClr val="0F172A"/>
          </a:solidFill>
          <a:ln cap="flat" cmpd="sng" w="66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9"/>
          <p:cNvSpPr txBox="1"/>
          <p:nvPr/>
        </p:nvSpPr>
        <p:spPr>
          <a:xfrm>
            <a:off x="979917" y="3805139"/>
            <a:ext cx="49245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endParaRPr b="1" sz="1537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9"/>
          <p:cNvSpPr txBox="1"/>
          <p:nvPr/>
        </p:nvSpPr>
        <p:spPr>
          <a:xfrm>
            <a:off x="979917" y="4071325"/>
            <a:ext cx="49245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1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Optimized algorithms (HNSW, IVF-Flat) for sub-linear search time in high dimensions.</a:t>
            </a:r>
            <a:endParaRPr b="0" sz="1816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9"/>
          <p:cNvSpPr txBox="1"/>
          <p:nvPr/>
        </p:nvSpPr>
        <p:spPr>
          <a:xfrm>
            <a:off x="780278" y="5269159"/>
            <a:ext cx="5323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Relation</a:t>
            </a:r>
            <a:endParaRPr b="1" sz="1537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9"/>
          <p:cNvSpPr txBox="1"/>
          <p:nvPr/>
        </p:nvSpPr>
        <p:spPr>
          <a:xfrm>
            <a:off x="780278" y="5535345"/>
            <a:ext cx="53238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1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Selected FAISS as our vector storage engine to ensure peak performance for DocuMind.</a:t>
            </a:r>
            <a:endParaRPr b="0" sz="1816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6769445" y="1342923"/>
            <a:ext cx="5323800" cy="5190900"/>
          </a:xfrm>
          <a:prstGeom prst="roundRect">
            <a:avLst>
              <a:gd fmla="val 4102" name="adj"/>
            </a:avLst>
          </a:prstGeom>
          <a:solidFill>
            <a:srgbClr val="1E293B"/>
          </a:solidFill>
          <a:ln cap="flat" cmpd="sng" w="13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 technical visualization of a high-performance vector database indexing structure. Geometric nodes connected in a dense graph (HNSW style) with glowing data paths, professional dark blue and purple tech aesthetic, 3D perspective." id="558" name="Google Shape;558;p39"/>
          <p:cNvPicPr preferRelativeResize="0"/>
          <p:nvPr/>
        </p:nvPicPr>
        <p:blipFill rotWithShape="1">
          <a:blip r:embed="rId3">
            <a:alphaModFix/>
          </a:blip>
          <a:srcRect b="1248" l="0" r="0" t="1248"/>
          <a:stretch/>
        </p:blipFill>
        <p:spPr>
          <a:xfrm>
            <a:off x="6769445" y="1342923"/>
            <a:ext cx="5323800" cy="5190900"/>
          </a:xfrm>
          <a:prstGeom prst="roundRect">
            <a:avLst>
              <a:gd fmla="val 4102" name="adj"/>
            </a:avLst>
          </a:prstGeom>
          <a:noFill/>
          <a:ln>
            <a:noFill/>
          </a:ln>
        </p:spPr>
      </p:pic>
      <p:pic>
        <p:nvPicPr>
          <p:cNvPr id="559" name="Google Shape;55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9445" y="5734984"/>
            <a:ext cx="5323800" cy="7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9"/>
          <p:cNvSpPr txBox="1"/>
          <p:nvPr/>
        </p:nvSpPr>
        <p:spPr>
          <a:xfrm>
            <a:off x="6769445" y="5734984"/>
            <a:ext cx="53238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Vector Indexing &amp; GPU Acceleration</a:t>
            </a:r>
            <a:endParaRPr b="1" sz="1537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/>
          <p:nvPr/>
        </p:nvSpPr>
        <p:spPr>
          <a:xfrm>
            <a:off x="381000" y="381000"/>
            <a:ext cx="79800" cy="66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0"/>
          <p:cNvSpPr txBox="1"/>
          <p:nvPr/>
        </p:nvSpPr>
        <p:spPr>
          <a:xfrm>
            <a:off x="646085" y="381000"/>
            <a:ext cx="11398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7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Paper 4: </a:t>
            </a:r>
            <a:r>
              <a:rPr b="1" lang="en-US" sz="4119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LLM System Architecture </a:t>
            </a:r>
            <a:endParaRPr b="1" sz="4119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40"/>
          <p:cNvSpPr/>
          <p:nvPr/>
        </p:nvSpPr>
        <p:spPr>
          <a:xfrm>
            <a:off x="381000" y="1375071"/>
            <a:ext cx="5832000" cy="5103000"/>
          </a:xfrm>
          <a:prstGeom prst="roundRect">
            <a:avLst>
              <a:gd fmla="val 5194" name="adj"/>
            </a:avLst>
          </a:prstGeom>
          <a:solidFill>
            <a:srgbClr val="1E293B"/>
          </a:solidFill>
          <a:ln cap="flat" cmpd="sng" w="199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0"/>
          <p:cNvSpPr txBox="1"/>
          <p:nvPr/>
        </p:nvSpPr>
        <p:spPr>
          <a:xfrm>
            <a:off x="778628" y="1706427"/>
            <a:ext cx="50367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5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Functional Software Reference Architecture</a:t>
            </a:r>
            <a:endParaRPr b="0" sz="2505">
              <a:solidFill>
                <a:srgbClr val="3B82F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68" name="Google Shape;568;p40"/>
          <p:cNvSpPr txBox="1"/>
          <p:nvPr/>
        </p:nvSpPr>
        <p:spPr>
          <a:xfrm>
            <a:off x="778628" y="2634227"/>
            <a:ext cx="50367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9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Architecture Pillars</a:t>
            </a:r>
            <a:endParaRPr b="1" sz="1392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41809" lvl="0" marL="636205" rtl="0" algn="l">
              <a:spcBef>
                <a:spcPts val="835"/>
              </a:spcBef>
              <a:spcAft>
                <a:spcPts val="0"/>
              </a:spcAft>
              <a:buSzPts val="1948"/>
              <a:buChar char="●"/>
            </a:pPr>
            <a:r>
              <a:rPr b="0" lang="en-US" sz="167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Modular design for maintainability</a:t>
            </a:r>
            <a:endParaRPr b="0" sz="167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41809" lvl="0" marL="636205" rtl="0" algn="l">
              <a:spcBef>
                <a:spcPts val="626"/>
              </a:spcBef>
              <a:spcAft>
                <a:spcPts val="0"/>
              </a:spcAft>
              <a:buSzPts val="1948"/>
              <a:buChar char="●"/>
            </a:pPr>
            <a:r>
              <a:rPr b="0" lang="en-US" sz="167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Scalable &amp; secure infrastructure</a:t>
            </a:r>
            <a:endParaRPr b="0" sz="167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41809" lvl="0" marL="636205" rtl="0" algn="l">
              <a:spcBef>
                <a:spcPts val="626"/>
              </a:spcBef>
              <a:spcAft>
                <a:spcPts val="626"/>
              </a:spcAft>
              <a:buSzPts val="1948"/>
              <a:buChar char="●"/>
            </a:pPr>
            <a:r>
              <a:rPr b="0" lang="en-US" sz="167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API-first integration patterns</a:t>
            </a:r>
            <a:endParaRPr b="0" sz="167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40"/>
          <p:cNvSpPr/>
          <p:nvPr/>
        </p:nvSpPr>
        <p:spPr>
          <a:xfrm>
            <a:off x="646085" y="4357282"/>
            <a:ext cx="5301600" cy="1855500"/>
          </a:xfrm>
          <a:prstGeom prst="roundRect">
            <a:avLst>
              <a:gd fmla="val 8571" name="adj"/>
            </a:avLst>
          </a:prstGeom>
          <a:solidFill>
            <a:srgbClr val="0F172A"/>
          </a:solidFill>
          <a:ln cap="flat" cmpd="sng" w="132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0"/>
          <p:cNvSpPr txBox="1"/>
          <p:nvPr/>
        </p:nvSpPr>
        <p:spPr>
          <a:xfrm>
            <a:off x="911170" y="4556096"/>
            <a:ext cx="4771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92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Insight</a:t>
            </a:r>
            <a:endParaRPr b="1" sz="1392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rPr b="0" i="1" lang="en-US" sz="1809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"LLM systems must be treated as modular software applications, not just standalone models."</a:t>
            </a:r>
            <a:endParaRPr b="0" i="1" sz="1809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71" name="Google Shape;571;p40"/>
          <p:cNvGrpSpPr/>
          <p:nvPr/>
        </p:nvGrpSpPr>
        <p:grpSpPr>
          <a:xfrm>
            <a:off x="6742929" y="1375043"/>
            <a:ext cx="5301615" cy="2783557"/>
            <a:chOff x="4953000" y="1095375"/>
            <a:chExt cx="3810000" cy="2000400"/>
          </a:xfrm>
        </p:grpSpPr>
        <p:sp>
          <p:nvSpPr>
            <p:cNvPr id="572" name="Google Shape;572;p40"/>
            <p:cNvSpPr/>
            <p:nvPr/>
          </p:nvSpPr>
          <p:spPr>
            <a:xfrm>
              <a:off x="4953000" y="1095375"/>
              <a:ext cx="3810000" cy="381000"/>
            </a:xfrm>
            <a:prstGeom prst="roundRect">
              <a:avLst>
                <a:gd fmla="val 20000" name="adj"/>
              </a:avLst>
            </a:prstGeom>
            <a:solidFill>
              <a:srgbClr val="8B5CF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0"/>
            <p:cNvSpPr txBox="1"/>
            <p:nvPr/>
          </p:nvSpPr>
          <p:spPr>
            <a:xfrm>
              <a:off x="4953000" y="109537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1">
                  <a:solidFill>
                    <a:srgbClr val="A78BFA"/>
                  </a:solidFill>
                  <a:latin typeface="Inter"/>
                  <a:ea typeface="Inter"/>
                  <a:cs typeface="Inter"/>
                  <a:sym typeface="Inter"/>
                </a:rPr>
                <a:t>Project Implementation Stack</a:t>
              </a:r>
              <a:endParaRPr b="1" sz="1531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74" name="Google Shape;574;p40"/>
            <p:cNvGrpSpPr/>
            <p:nvPr/>
          </p:nvGrpSpPr>
          <p:grpSpPr>
            <a:xfrm>
              <a:off x="4953000" y="1619250"/>
              <a:ext cx="1809600" cy="666900"/>
              <a:chOff x="4953000" y="1619250"/>
              <a:chExt cx="1809600" cy="666900"/>
            </a:xfrm>
          </p:grpSpPr>
          <p:sp>
            <p:nvSpPr>
              <p:cNvPr id="575" name="Google Shape;575;p40"/>
              <p:cNvSpPr/>
              <p:nvPr/>
            </p:nvSpPr>
            <p:spPr>
              <a:xfrm>
                <a:off x="4953000" y="1619250"/>
                <a:ext cx="18096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1E293B"/>
              </a:solidFill>
              <a:ln cap="flat" cmpd="sng" w="132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40"/>
              <p:cNvSpPr txBox="1"/>
              <p:nvPr/>
            </p:nvSpPr>
            <p:spPr>
              <a:xfrm>
                <a:off x="5095875" y="1714500"/>
                <a:ext cx="1524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92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UI / Frontend</a:t>
                </a:r>
                <a:endParaRPr b="1" sz="1392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7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HTML / CSS / JS</a:t>
                </a:r>
                <a:endParaRPr b="0" sz="167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77" name="Google Shape;577;p40"/>
            <p:cNvGrpSpPr/>
            <p:nvPr/>
          </p:nvGrpSpPr>
          <p:grpSpPr>
            <a:xfrm>
              <a:off x="6953250" y="1619250"/>
              <a:ext cx="1809600" cy="666900"/>
              <a:chOff x="6953250" y="1619250"/>
              <a:chExt cx="1809600" cy="666900"/>
            </a:xfrm>
          </p:grpSpPr>
          <p:sp>
            <p:nvSpPr>
              <p:cNvPr id="578" name="Google Shape;578;p40"/>
              <p:cNvSpPr/>
              <p:nvPr/>
            </p:nvSpPr>
            <p:spPr>
              <a:xfrm>
                <a:off x="6953250" y="1619250"/>
                <a:ext cx="18096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1E293B"/>
              </a:solidFill>
              <a:ln cap="flat" cmpd="sng" w="132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40"/>
              <p:cNvSpPr txBox="1"/>
              <p:nvPr/>
            </p:nvSpPr>
            <p:spPr>
              <a:xfrm>
                <a:off x="7096125" y="1714500"/>
                <a:ext cx="1524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92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Backend Logic</a:t>
                </a:r>
                <a:endParaRPr b="1" sz="1392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7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Spring Boot</a:t>
                </a:r>
                <a:endParaRPr b="0" sz="167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0" name="Google Shape;580;p40"/>
            <p:cNvGrpSpPr/>
            <p:nvPr/>
          </p:nvGrpSpPr>
          <p:grpSpPr>
            <a:xfrm>
              <a:off x="4953000" y="2428875"/>
              <a:ext cx="1809600" cy="666900"/>
              <a:chOff x="4953000" y="2428875"/>
              <a:chExt cx="1809600" cy="666900"/>
            </a:xfrm>
          </p:grpSpPr>
          <p:sp>
            <p:nvSpPr>
              <p:cNvPr id="581" name="Google Shape;581;p40"/>
              <p:cNvSpPr/>
              <p:nvPr/>
            </p:nvSpPr>
            <p:spPr>
              <a:xfrm>
                <a:off x="4953000" y="2428875"/>
                <a:ext cx="18096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1E293B"/>
              </a:solidFill>
              <a:ln cap="flat" cmpd="sng" w="132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40"/>
              <p:cNvSpPr txBox="1"/>
              <p:nvPr/>
            </p:nvSpPr>
            <p:spPr>
              <a:xfrm>
                <a:off x="5095875" y="2524125"/>
                <a:ext cx="1524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92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AI Integration</a:t>
                </a:r>
                <a:endParaRPr b="1" sz="1392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7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FastAPI + LLM</a:t>
                </a:r>
                <a:endParaRPr b="0" sz="167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3" name="Google Shape;583;p40"/>
            <p:cNvGrpSpPr/>
            <p:nvPr/>
          </p:nvGrpSpPr>
          <p:grpSpPr>
            <a:xfrm>
              <a:off x="6953250" y="2428875"/>
              <a:ext cx="1809600" cy="666900"/>
              <a:chOff x="6953250" y="2428875"/>
              <a:chExt cx="1809600" cy="666900"/>
            </a:xfrm>
          </p:grpSpPr>
          <p:sp>
            <p:nvSpPr>
              <p:cNvPr id="584" name="Google Shape;584;p40"/>
              <p:cNvSpPr/>
              <p:nvPr/>
            </p:nvSpPr>
            <p:spPr>
              <a:xfrm>
                <a:off x="6953250" y="2428875"/>
                <a:ext cx="18096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1E293B"/>
              </a:solidFill>
              <a:ln cap="flat" cmpd="sng" w="132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40"/>
              <p:cNvSpPr txBox="1"/>
              <p:nvPr/>
            </p:nvSpPr>
            <p:spPr>
              <a:xfrm>
                <a:off x="7096125" y="2524125"/>
                <a:ext cx="1524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92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Data Layer</a:t>
                </a:r>
                <a:endParaRPr b="1" sz="1392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7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FAISS Vector DB</a:t>
                </a:r>
                <a:endParaRPr b="0" sz="167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descr="A high-tech schematic diagram showing layered blue boxes representing software architecture (UI, Logic, AI, Data) with glowing data flow lines between them. Cinematic tech aesthetic, dark background." id="586" name="Google Shape;586;p40"/>
          <p:cNvPicPr preferRelativeResize="0"/>
          <p:nvPr/>
        </p:nvPicPr>
        <p:blipFill rotWithShape="1">
          <a:blip r:embed="rId3">
            <a:alphaModFix/>
          </a:blip>
          <a:srcRect b="-7090" l="-21804" r="-17162" t="-130045"/>
          <a:stretch/>
        </p:blipFill>
        <p:spPr>
          <a:xfrm>
            <a:off x="6527400" y="1375050"/>
            <a:ext cx="5517300" cy="5296800"/>
          </a:xfrm>
          <a:prstGeom prst="roundRect">
            <a:avLst>
              <a:gd fmla="val 666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1"/>
          <p:cNvSpPr/>
          <p:nvPr/>
        </p:nvSpPr>
        <p:spPr>
          <a:xfrm>
            <a:off x="381000" y="381000"/>
            <a:ext cx="79500" cy="662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1"/>
          <p:cNvSpPr txBox="1"/>
          <p:nvPr/>
        </p:nvSpPr>
        <p:spPr>
          <a:xfrm>
            <a:off x="645863" y="381000"/>
            <a:ext cx="105945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17"/>
              </a:spcAft>
              <a:buNone/>
            </a:pPr>
            <a:r>
              <a:rPr b="1" lang="en-US" sz="39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Paper 5: Edge AI Computing</a:t>
            </a:r>
            <a:endParaRPr b="1" sz="39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41"/>
          <p:cNvSpPr/>
          <p:nvPr/>
        </p:nvSpPr>
        <p:spPr>
          <a:xfrm>
            <a:off x="381000" y="1440453"/>
            <a:ext cx="5826900" cy="5032500"/>
          </a:xfrm>
          <a:prstGeom prst="roundRect">
            <a:avLst>
              <a:gd fmla="val 5263" name="adj"/>
            </a:avLst>
          </a:prstGeom>
          <a:solidFill>
            <a:srgbClr val="1E293B"/>
          </a:solidFill>
          <a:ln cap="flat" cmpd="sng" w="1987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1"/>
          <p:cNvSpPr txBox="1"/>
          <p:nvPr/>
        </p:nvSpPr>
        <p:spPr>
          <a:xfrm>
            <a:off x="778295" y="1837748"/>
            <a:ext cx="5032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17"/>
              </a:spcAft>
              <a:buNone/>
            </a:pPr>
            <a:r>
              <a:rPr b="0" lang="en-US" sz="3087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Han et al.</a:t>
            </a:r>
            <a:endParaRPr b="0" sz="3087">
              <a:solidFill>
                <a:srgbClr val="3B82F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94" name="Google Shape;594;p41"/>
          <p:cNvSpPr txBox="1"/>
          <p:nvPr/>
        </p:nvSpPr>
        <p:spPr>
          <a:xfrm>
            <a:off x="778295" y="2499906"/>
            <a:ext cx="50325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Official Title</a:t>
            </a:r>
            <a:endParaRPr b="1" sz="1543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17"/>
              </a:spcBef>
              <a:spcAft>
                <a:spcPts val="417"/>
              </a:spcAft>
              <a:buNone/>
            </a:pPr>
            <a:r>
              <a:rPr b="0" i="1" lang="en-US" sz="180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"Efficient Transformers on Edge Devices."</a:t>
            </a:r>
            <a:endParaRPr b="0" i="1" sz="1801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5" name="Google Shape;595;p41"/>
          <p:cNvSpPr/>
          <p:nvPr/>
        </p:nvSpPr>
        <p:spPr>
          <a:xfrm>
            <a:off x="645863" y="3493144"/>
            <a:ext cx="5297100" cy="1324500"/>
          </a:xfrm>
          <a:prstGeom prst="roundRect">
            <a:avLst>
              <a:gd fmla="val 10000" name="adj"/>
            </a:avLst>
          </a:prstGeom>
          <a:solidFill>
            <a:srgbClr val="0F172A"/>
          </a:solidFill>
          <a:ln cap="flat" cmpd="sng" w="132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1"/>
          <p:cNvSpPr txBox="1"/>
          <p:nvPr/>
        </p:nvSpPr>
        <p:spPr>
          <a:xfrm>
            <a:off x="844511" y="3625575"/>
            <a:ext cx="49002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3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endParaRPr b="1" sz="1543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17"/>
              </a:spcBef>
              <a:spcAft>
                <a:spcPts val="417"/>
              </a:spcAft>
              <a:buNone/>
            </a:pPr>
            <a:r>
              <a:rPr b="0" lang="en-US" sz="180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quantization (Int4/Int8) allows large models to run on consumer-grade hardware.</a:t>
            </a:r>
            <a:endParaRPr b="0" sz="1801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Google Shape;597;p41"/>
          <p:cNvSpPr txBox="1"/>
          <p:nvPr/>
        </p:nvSpPr>
        <p:spPr>
          <a:xfrm>
            <a:off x="778295" y="5016108"/>
            <a:ext cx="50325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Relation</a:t>
            </a:r>
            <a:endParaRPr b="1" sz="1543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17"/>
              </a:spcBef>
              <a:spcAft>
                <a:spcPts val="417"/>
              </a:spcAft>
              <a:buNone/>
            </a:pPr>
            <a:r>
              <a:rPr b="0" lang="en-US" sz="180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Validates our offline support using quantized Llama3 models for local execution.</a:t>
            </a:r>
            <a:endParaRPr b="0" sz="1801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8" name="Google Shape;598;p41"/>
          <p:cNvSpPr/>
          <p:nvPr/>
        </p:nvSpPr>
        <p:spPr>
          <a:xfrm>
            <a:off x="6737719" y="1440453"/>
            <a:ext cx="5297100" cy="5032500"/>
          </a:xfrm>
          <a:prstGeom prst="roundRect">
            <a:avLst>
              <a:gd fmla="val 5263" name="adj"/>
            </a:avLst>
          </a:prstGeom>
          <a:solidFill>
            <a:srgbClr val="1E293B"/>
          </a:solidFill>
          <a:ln cap="flat" cmpd="sng" w="1987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high-tech 3D render of a microchip glowing with purple and blue energy, symbolizing mobile AI processing and edge computing efficiency, cinematic lighting, dark tech background." id="599" name="Google Shape;599;p41"/>
          <p:cNvPicPr preferRelativeResize="0"/>
          <p:nvPr/>
        </p:nvPicPr>
        <p:blipFill rotWithShape="1">
          <a:blip r:embed="rId3">
            <a:alphaModFix/>
          </a:blip>
          <a:srcRect b="-11775" l="5885" r="5877" t="5887"/>
          <a:stretch/>
        </p:blipFill>
        <p:spPr>
          <a:xfrm>
            <a:off x="6737719" y="1705316"/>
            <a:ext cx="5297100" cy="4767600"/>
          </a:xfrm>
          <a:prstGeom prst="roundRect">
            <a:avLst>
              <a:gd fmla="val 5555" name="adj"/>
            </a:avLst>
          </a:prstGeom>
          <a:noFill/>
          <a:ln>
            <a:noFill/>
          </a:ln>
        </p:spPr>
      </p:pic>
      <p:pic>
        <p:nvPicPr>
          <p:cNvPr id="600" name="Google Shape;60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7719" y="5678266"/>
            <a:ext cx="5297100" cy="7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1"/>
          <p:cNvSpPr txBox="1"/>
          <p:nvPr/>
        </p:nvSpPr>
        <p:spPr>
          <a:xfrm>
            <a:off x="6737719" y="5678266"/>
            <a:ext cx="52971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17"/>
              </a:spcAft>
              <a:buNone/>
            </a:pPr>
            <a:r>
              <a:rPr b="1" lang="en-US" sz="154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Optimized Edge Architecture</a:t>
            </a:r>
            <a:endParaRPr b="1" sz="1543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6" name="Google Shape;60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7" name="Google Shape;60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3156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8" name="Google Shape;60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93156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9" name="Google Shape;609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93156"/>
            <a:ext cx="3492549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2"/>
          <p:cNvSpPr txBox="1"/>
          <p:nvPr/>
        </p:nvSpPr>
        <p:spPr>
          <a:xfrm>
            <a:off x="962025" y="3650456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Grounding</a:t>
            </a:r>
            <a:endParaRPr/>
          </a:p>
        </p:txBody>
      </p:sp>
      <p:sp>
        <p:nvSpPr>
          <p:cNvPr id="611" name="Google Shape;611;p42"/>
          <p:cNvSpPr txBox="1"/>
          <p:nvPr/>
        </p:nvSpPr>
        <p:spPr>
          <a:xfrm>
            <a:off x="962025" y="4212431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Retrieval is essential to ground models and avoid factual errors.</a:t>
            </a:r>
            <a:endParaRPr/>
          </a:p>
        </p:txBody>
      </p:sp>
      <p:sp>
        <p:nvSpPr>
          <p:cNvPr id="612" name="Google Shape;612;p42"/>
          <p:cNvSpPr txBox="1"/>
          <p:nvPr/>
        </p:nvSpPr>
        <p:spPr>
          <a:xfrm>
            <a:off x="4740324" y="3650456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Vector Power</a:t>
            </a:r>
            <a:endParaRPr/>
          </a:p>
        </p:txBody>
      </p:sp>
      <p:sp>
        <p:nvSpPr>
          <p:cNvPr id="613" name="Google Shape;613;p42"/>
          <p:cNvSpPr txBox="1"/>
          <p:nvPr/>
        </p:nvSpPr>
        <p:spPr>
          <a:xfrm>
            <a:off x="4740324" y="4212431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Dense search is the gold standard for semantic document understanding.</a:t>
            </a:r>
            <a:endParaRPr/>
          </a:p>
        </p:txBody>
      </p:sp>
      <p:sp>
        <p:nvSpPr>
          <p:cNvPr id="614" name="Google Shape;614;p42"/>
          <p:cNvSpPr txBox="1"/>
          <p:nvPr/>
        </p:nvSpPr>
        <p:spPr>
          <a:xfrm>
            <a:off x="8518624" y="3650456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Local First</a:t>
            </a:r>
            <a:endParaRPr/>
          </a:p>
        </p:txBody>
      </p:sp>
      <p:sp>
        <p:nvSpPr>
          <p:cNvPr id="615" name="Google Shape;615;p42"/>
          <p:cNvSpPr txBox="1"/>
          <p:nvPr/>
        </p:nvSpPr>
        <p:spPr>
          <a:xfrm>
            <a:off x="8518624" y="4212431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future of AI lies in "Private by Design" local execution.</a:t>
            </a:r>
            <a:endParaRPr/>
          </a:p>
        </p:txBody>
      </p:sp>
      <p:pic>
        <p:nvPicPr>
          <p:cNvPr descr="image.png" id="616" name="Google Shape;616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83130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7" name="Google Shape;617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831306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8313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2"/>
          <p:cNvSpPr txBox="1"/>
          <p:nvPr/>
        </p:nvSpPr>
        <p:spPr>
          <a:xfrm>
            <a:off x="762000" y="919311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Literature Key Insights</a:t>
            </a:r>
            <a:endParaRPr/>
          </a:p>
        </p:txBody>
      </p:sp>
      <p:sp>
        <p:nvSpPr>
          <p:cNvPr id="620" name="Google Shape;620;p42"/>
          <p:cNvSpPr/>
          <p:nvPr/>
        </p:nvSpPr>
        <p:spPr>
          <a:xfrm>
            <a:off x="571500" y="919311"/>
            <a:ext cx="57150" cy="514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3"/>
          <p:cNvSpPr/>
          <p:nvPr/>
        </p:nvSpPr>
        <p:spPr>
          <a:xfrm>
            <a:off x="762000" y="762000"/>
            <a:ext cx="76500" cy="76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3"/>
          <p:cNvSpPr txBox="1"/>
          <p:nvPr/>
        </p:nvSpPr>
        <p:spPr>
          <a:xfrm>
            <a:off x="1092200" y="762000"/>
            <a:ext cx="1033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Mission Accomplished</a:t>
            </a:r>
            <a:endParaRPr b="1" sz="4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43"/>
          <p:cNvSpPr txBox="1"/>
          <p:nvPr/>
        </p:nvSpPr>
        <p:spPr>
          <a:xfrm>
            <a:off x="1092200" y="1587500"/>
            <a:ext cx="1033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67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DocuMind AI provides a scalable, secure, and hybrid future for document interaction.</a:t>
            </a:r>
            <a:endParaRPr b="0" sz="1867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28" name="Google Shape;628;p43"/>
          <p:cNvGrpSpPr/>
          <p:nvPr/>
        </p:nvGrpSpPr>
        <p:grpSpPr>
          <a:xfrm>
            <a:off x="761981" y="3047924"/>
            <a:ext cx="3301917" cy="3047924"/>
            <a:chOff x="571500" y="2286000"/>
            <a:chExt cx="2476500" cy="2286000"/>
          </a:xfrm>
        </p:grpSpPr>
        <p:sp>
          <p:nvSpPr>
            <p:cNvPr id="629" name="Google Shape;629;p43"/>
            <p:cNvSpPr/>
            <p:nvPr/>
          </p:nvSpPr>
          <p:spPr>
            <a:xfrm>
              <a:off x="571500" y="2286000"/>
              <a:ext cx="2476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uturistic digital node network representing successful data integration and retrieval-augmented generation." id="630" name="Google Shape;630;p43"/>
            <p:cNvPicPr preferRelativeResize="0"/>
            <p:nvPr/>
          </p:nvPicPr>
          <p:blipFill rotWithShape="1">
            <a:blip r:embed="rId5">
              <a:alphaModFix/>
            </a:blip>
            <a:srcRect b="-66229" l="0" r="0" t="2133"/>
            <a:stretch/>
          </p:blipFill>
          <p:spPr>
            <a:xfrm>
              <a:off x="571500" y="2286000"/>
              <a:ext cx="24765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631" name="Google Shape;631;p43"/>
            <p:cNvSpPr txBox="1"/>
            <p:nvPr/>
          </p:nvSpPr>
          <p:spPr>
            <a:xfrm>
              <a:off x="762000" y="37147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RAG Integration</a:t>
              </a:r>
              <a:endParaRPr b="0" sz="24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32" name="Google Shape;632;p43"/>
            <p:cNvSpPr txBox="1"/>
            <p:nvPr/>
          </p:nvSpPr>
          <p:spPr>
            <a:xfrm>
              <a:off x="762000" y="40481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47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Successful implementation of high-fidelity retrieval systems.</a:t>
              </a:r>
              <a:endParaRPr b="0" sz="124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3" name="Google Shape;633;p43"/>
          <p:cNvGrpSpPr/>
          <p:nvPr/>
        </p:nvGrpSpPr>
        <p:grpSpPr>
          <a:xfrm>
            <a:off x="4444889" y="3047924"/>
            <a:ext cx="3301917" cy="3047924"/>
            <a:chOff x="3333750" y="2286000"/>
            <a:chExt cx="2476500" cy="2286000"/>
          </a:xfrm>
        </p:grpSpPr>
        <p:sp>
          <p:nvSpPr>
            <p:cNvPr id="634" name="Google Shape;634;p43"/>
            <p:cNvSpPr/>
            <p:nvPr/>
          </p:nvSpPr>
          <p:spPr>
            <a:xfrm>
              <a:off x="3333750" y="2286000"/>
              <a:ext cx="2476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chematic diagram showing data pathways switching between cloud and edge, representing hybrid routing." id="635" name="Google Shape;635;p43"/>
            <p:cNvPicPr preferRelativeResize="0"/>
            <p:nvPr/>
          </p:nvPicPr>
          <p:blipFill rotWithShape="1">
            <a:blip r:embed="rId6">
              <a:alphaModFix/>
            </a:blip>
            <a:srcRect b="-66229" l="0" r="0" t="2133"/>
            <a:stretch/>
          </p:blipFill>
          <p:spPr>
            <a:xfrm>
              <a:off x="3333750" y="2286000"/>
              <a:ext cx="24765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636" name="Google Shape;636;p43"/>
            <p:cNvSpPr txBox="1"/>
            <p:nvPr/>
          </p:nvSpPr>
          <p:spPr>
            <a:xfrm>
              <a:off x="3524250" y="37147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Hybrid Routing</a:t>
              </a:r>
              <a:endParaRPr b="0" sz="24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37" name="Google Shape;637;p43"/>
            <p:cNvSpPr txBox="1"/>
            <p:nvPr/>
          </p:nvSpPr>
          <p:spPr>
            <a:xfrm>
              <a:off x="3524250" y="40481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47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Functional intelligent switching between local and cloud compute.</a:t>
              </a:r>
              <a:endParaRPr b="0" sz="124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8" name="Google Shape;638;p43"/>
          <p:cNvGrpSpPr/>
          <p:nvPr/>
        </p:nvGrpSpPr>
        <p:grpSpPr>
          <a:xfrm>
            <a:off x="8127797" y="3047924"/>
            <a:ext cx="3301917" cy="3047924"/>
            <a:chOff x="6096000" y="2286000"/>
            <a:chExt cx="2476500" cy="2286000"/>
          </a:xfrm>
        </p:grpSpPr>
        <p:sp>
          <p:nvSpPr>
            <p:cNvPr id="639" name="Google Shape;639;p43"/>
            <p:cNvSpPr/>
            <p:nvPr/>
          </p:nvSpPr>
          <p:spPr>
            <a:xfrm>
              <a:off x="6096000" y="2286000"/>
              <a:ext cx="24765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127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ecure, encrypted vault icon with glowing circuits, representing a privacy-first AI architecture." id="640" name="Google Shape;640;p43"/>
            <p:cNvPicPr preferRelativeResize="0"/>
            <p:nvPr/>
          </p:nvPicPr>
          <p:blipFill rotWithShape="1">
            <a:blip r:embed="rId7">
              <a:alphaModFix/>
            </a:blip>
            <a:srcRect b="-66229" l="0" r="0" t="2133"/>
            <a:stretch/>
          </p:blipFill>
          <p:spPr>
            <a:xfrm>
              <a:off x="6096000" y="2286000"/>
              <a:ext cx="24765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641" name="Google Shape;641;p43"/>
            <p:cNvSpPr txBox="1"/>
            <p:nvPr/>
          </p:nvSpPr>
          <p:spPr>
            <a:xfrm>
              <a:off x="6286500" y="37147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Privacy-First</a:t>
              </a:r>
              <a:endParaRPr b="0" sz="24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42" name="Google Shape;642;p43"/>
            <p:cNvSpPr txBox="1"/>
            <p:nvPr/>
          </p:nvSpPr>
          <p:spPr>
            <a:xfrm>
              <a:off x="6286500" y="40481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47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Architecture designed for maximum data sovereignty and security.</a:t>
              </a:r>
              <a:endParaRPr b="0" sz="124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7" name="Google Shape;6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4"/>
          <p:cNvSpPr txBox="1"/>
          <p:nvPr/>
        </p:nvSpPr>
        <p:spPr>
          <a:xfrm>
            <a:off x="4755832" y="1545877"/>
            <a:ext cx="268033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Q &amp; A</a:t>
            </a:r>
            <a:endParaRPr/>
          </a:p>
        </p:txBody>
      </p:sp>
      <p:sp>
        <p:nvSpPr>
          <p:cNvPr id="649" name="Google Shape;649;p44"/>
          <p:cNvSpPr txBox="1"/>
          <p:nvPr/>
        </p:nvSpPr>
        <p:spPr>
          <a:xfrm>
            <a:off x="4781550" y="3679477"/>
            <a:ext cx="2628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5CF6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 for your time!</a:t>
            </a:r>
            <a:endParaRPr/>
          </a:p>
        </p:txBody>
      </p:sp>
      <p:sp>
        <p:nvSpPr>
          <p:cNvPr id="650" name="Google Shape;650;p44"/>
          <p:cNvSpPr txBox="1"/>
          <p:nvPr/>
        </p:nvSpPr>
        <p:spPr>
          <a:xfrm>
            <a:off x="3952875" y="465474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DocuMind AI: Hybrid RAG Knowledge Assistant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